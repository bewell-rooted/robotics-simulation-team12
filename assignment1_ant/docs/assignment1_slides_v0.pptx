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팀 소개. "평면에서만 배운 Ant를 처음 보는 지형에서도 걷게 만든 과정을 가설과 검증 순서로 말씀드리겠습니다."</a:t>
            </a:r>
          </a:p>
          <a:p>
            <a:r>
              <a:t>[구성원] 이름 채우기.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연구 문제를 먼저 던지고, 진단 실험 두 개(성능 붕괴, 뒤집힘)로 문제를 좁혔다는 점을 강조.</a:t>
            </a:r>
          </a:p>
          <a:p>
            <a:r>
              <a:t>높이가 아니라 자세(뒤집힘)가 표적이라는 것이 이후 가설의 출발점.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평가를 먼저 설계했다. 체크포인트를 고르는 지형과 결론을 말하는 지형을 분리해 "고른 지형에 맞춘 결과"를 막았다.</a:t>
            </a:r>
          </a:p>
          <a:p>
            <a:r>
              <a:t>잠금 테스트는 최종 선택이 끝난 뒤 한 번만 돌렸다.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사다리 그림 하나로 전체를 보여 준다. 왼쪽(환경)은 40점대에서 멈추고, 로봇을 바꾸면 70점대, 대칭 증강으로 90점대.</a:t>
            </a:r>
          </a:p>
          <a:p>
            <a:r>
              <a:t>이후 슬라이드는 이 그림의 각 구간을 가설별로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H2는 팀원 의견에서 출발한 가설인데 실험으로 기각됐다. 조심시키면 덜 걸을 뿐 뒤집힘은 줄지 않았다 → 원인은 정보·능력 쪽이라고 보고 축 2로.</a:t>
            </a:r>
          </a:p>
          <a:p>
            <a:r>
              <a:t>V6′·V10·V11은 seed 1개라 근거가 약하다는 점도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센서는 물리를 바꾸지 않고 정책이 아는 정보만 늘린다. 외피는 발과 지면의 마찰을 바꾼다.</a:t>
            </a:r>
          </a:p>
          <a:p>
            <a:r>
              <a:t>둘을 합쳤을 때 합보다 크게 오른 것이 핵심 — 감각이 외피의 미끄러짐을 보정한다는 해석 (직접 검증은 안 함).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진단에서 본 "마찰이 클수록 뒤집힘"이 가설의 출발점. 외피 마찰을 바꿔 보니 중간값이 가장 좋았다.</a:t>
            </a:r>
          </a:p>
          <a:p>
            <a:r>
              <a:t>seed 하나로 결론을 냈다가 뒤집힌 경험을 그대로 보여 주는 것이 실험 설계의 신뢰성.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발표의 독창성 포인트. "왼발로 익힌 요령은 오른발도 안다"는 경험을 학습 데이터로 모델링.</a:t>
            </a:r>
          </a:p>
          <a:p>
            <a:r>
              <a:t>추측 대신 측정으로 맵을 확정한 과정을 짧게. 히트맵에서 맨 아래 V8 행이 거의 모든 지형에서 가장 진하다.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대조 실험 두 개로 "대칭인 정책"과 "거울 경험"을 분리했다.</a:t>
            </a:r>
          </a:p>
          <a:p>
            <a:r>
              <a:t>감각이 풍부할 때 거울 데이터가 크게 작동한다는 상호작용은 해석 단계.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자체 평가에서 본 순서가 처음 보는 잠금 테스트에서도 그대로 나왔다 → 결론이 평가 지형에 과적합되지 않았다.</a:t>
            </a:r>
          </a:p>
          <a:p>
            <a:r>
              <a:t>평가 지형 이탈은 스스로 찾아 점검했다는 점을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블록·계단 영상 하나와 실패 영상 하나를 보여 준다. 실패도 713 step까지 걸은 뒤 뒤집힘 — 남은 한계로 연결.</a:t>
            </a:r>
          </a:p>
          <a:p>
            <a:r>
              <a:t>썸네일 자리에 영상 첫 프레임 또는 영상을 넣기.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한계를 숨기지 않는다. 특히 "뒤집힘은 그대로"는 다음 연구 문제로 제시.</a:t>
            </a:r>
          </a:p>
          <a:p>
            <a:r>
              <a:t>참고문헌: Rudin CoRL 2021 · Cobbe ICML 2019 · Chane-Sane (CaT) IROS 2024 · Kumar (RMA) RSS 2021 · Mittal ICRA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B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처음 보는 지형에서도 걷는 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로보틱스 시뮬레이션 과제 1 · 팀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박형근 · 경한 · [구성원]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8A8884"/>
                </a:solidFill>
                <a:latin typeface="맑은 고딕"/>
                <a:ea typeface="맑은 고딕"/>
                <a:cs typeface="맑은 고딕"/>
              </a:rPr>
              <a:t>2026.10.08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문제 — 왜 처음 보는 지형에서 무너지는가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94415" cy="868680"/>
          </a:xfrm>
          <a:prstGeom prst="roundRect">
            <a:avLst>
              <a:gd name="adj" fmla="val 8000"/>
            </a:avLst>
          </a:prstGeom>
          <a:solidFill>
            <a:srgbClr val="EE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45775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6B4BC4"/>
                </a:solidFill>
                <a:latin typeface="맑은 고딕"/>
                <a:ea typeface="맑은 고딕"/>
                <a:cs typeface="맑은 고딕"/>
              </a:rPr>
              <a:t>연구 문제: 평면에서 학습한 Ant는 왜 처음 보는 지형에서 무너지는가?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과제: Isaac-Ant-v0 정책이 </a:t>
            </a:r>
            <a:r>
              <a:rPr sz="1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지형 형태·마찰만 바뀐 처음 보는 환경</a:t>
            </a:r>
            <a:r>
              <a:rPr sz="1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에서도 걷게 만들기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관찰 1 — </a:t>
            </a:r>
            <a:r>
              <a:rPr sz="1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성능 붕괴</a:t>
            </a:r>
            <a:r>
              <a:rPr sz="1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baseline 공식 평면 134.90 ± 27.74 → 처음 보는 지형 12종 평균 </a:t>
            </a:r>
            <a:r>
              <a:rPr sz="1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16.3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관찰 2 — </a:t>
            </a:r>
            <a:r>
              <a:rPr sz="1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실패 = 뒤집힘</a:t>
            </a:r>
            <a:r>
              <a:rPr sz="1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종료 높이 임계를 0.31 → 0.20으로 낮춰도 전진 거리 그대로 (59 m)</a:t>
            </a:r>
          </a:p>
          <a:p>
            <a:pPr algn="l" lvl="1"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– 이미 뒤집혀 누운 상태 → 표적은 높이가 아니라 자세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조교 평가: 우리 태스크 설정으로 로드하고 지형만 교체</a:t>
            </a:r>
          </a:p>
          <a:p>
            <a:pPr algn="l" lvl="1"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– </a:t>
            </a:r>
            <a:r>
              <a:rPr sz="1600" b="1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학습 환경 + 로봇(센서·물성) + 학습 방법</a:t>
            </a:r>
            <a:r>
              <a:rPr sz="16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이 설계 대상 (구조 변경은 불가, 10.05 공지)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맑은 고딕"/>
                <a:ea typeface="맑은 고딕"/>
                <a:cs typeface="맑은 고딕"/>
              </a:rPr>
              <a:t>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맑은 고딕"/>
                <a:ea typeface="맑은 고딕"/>
                <a:cs typeface="맑은 고딕"/>
              </a:rPr>
              <a:t>출처: docs/report_material.md 2절 (진단 실험 log_0930)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평가 설계 — 학습과 분리된 4단 평가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94414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617"/>
                <a:gridCol w="6656649"/>
                <a:gridCol w="248514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73152" marR="73152" marT="27432" marB="27432" anchor="ctr">
                    <a:solidFill>
                      <a:srgbClr val="6B4B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지형</a:t>
                      </a:r>
                    </a:p>
                  </a:txBody>
                  <a:tcPr marL="73152" marR="73152" marT="27432" marB="27432" anchor="ctr">
                    <a:solidFill>
                      <a:srgbClr val="6B4B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</a:t>
                      </a:r>
                    </a:p>
                  </a:txBody>
                  <a:tcPr marL="73152" marR="73152" marT="27432" marB="27432" anchor="ctr">
                    <a:solidFill>
                      <a:srgbClr val="6B4BC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12종 (평지·블록 6종·계단·파도·빙판·상자·레일)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가설 비교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선택용 held-out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Boxes · Rails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체크포인트 선택에만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보고용 held-out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SlopedGrid · Pyramids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선택 뒤 보고만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잠금 테스트</a:t>
                      </a:r>
                    </a:p>
                  </a:txBody>
                  <a:tcPr marL="73152" marR="73152" marT="27432" marB="27432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UnseenMix (학습 범위 밖 블록·피라미드·경사 위 블록·원기둥·평지)</a:t>
                      </a:r>
                    </a:p>
                  </a:txBody>
                  <a:tcPr marL="73152" marR="73152" marT="27432" marB="27432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마지막 1회 (10.05)</a:t>
                      </a:r>
                    </a:p>
                  </a:txBody>
                  <a:tcPr marL="73152" marR="73152" marT="27432" marB="27432" anchor="ctr">
                    <a:solidFill>
                      <a:srgbClr val="EEEA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14800"/>
            <a:ext cx="11094415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공식 명령 play_one_episode.py --seed 24 --num_envs 100, 원래 보상, 첫 에피소드 누적 reward (조교 지표와 동일)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학습 seed 2~4개 반복 · 한 번에 한 요인만 바꾸는 비교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선택 규칙 </a:t>
            </a:r>
            <a:r>
              <a:rPr sz="17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"선택용 held-out 1위"를 사전 고정</a:t>
            </a:r>
            <a:r>
              <a:rPr sz="17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→ 고른 지형에 맞춘 결과를 막음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맑은 고딕"/>
                <a:ea typeface="맑은 고딕"/>
                <a:cs typeface="맑은 고딕"/>
              </a:rPr>
              <a:t>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맑은 고딕"/>
                <a:ea typeface="맑은 고딕"/>
                <a:cs typeface="맑은 고딕"/>
              </a:rPr>
              <a:t>출처: docs/report_material.md 4절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접근 한눈에 — 가설 5개, 세 갈래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576218" cy="86868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16152"/>
            <a:ext cx="3301898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축 1 환경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H1 경험 부족 · H2 자세 제약 부족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7738" y="1188720"/>
            <a:ext cx="3576218" cy="86868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44898" y="1216152"/>
            <a:ext cx="3301898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축 2 로봇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H3 감각 부족 · H4 접촉 물성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188720"/>
            <a:ext cx="3576218" cy="86868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>
            <a:solidFill>
              <a:srgbClr val="6B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3996" y="1216152"/>
            <a:ext cx="3301898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6B4BC4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H5 좌우 대칭 경험</a:t>
            </a:r>
          </a:p>
        </p:txBody>
      </p:sp>
      <p:pic>
        <p:nvPicPr>
          <p:cNvPr id="10" name="Picture 9" descr="r2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0280"/>
            <a:ext cx="11094415" cy="39257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맑은 고딕"/>
                <a:ea typeface="맑은 고딕"/>
                <a:cs typeface="맑은 고딕"/>
              </a:rPr>
              <a:t>4 /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맑은 고딕"/>
                <a:ea typeface="맑은 고딕"/>
                <a:cs typeface="맑은 고딕"/>
              </a:rPr>
              <a:t>그림: docs/figures/r2_ladder.png — 막대 = 학습 seed 평균, 점 = seed별, 자체 평가 12종 평균 reward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축 1 결과 — H1 지지 (커리큘럼은 기각, 지형 비중이 핵심) · H2 기각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60350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실험</a:t>
                      </a:r>
                    </a:p>
                  </a:txBody>
                  <a:tcPr marL="73152" marR="73152" marT="27432" marB="27432" anchor="ctr">
                    <a:solidFill>
                      <a:srgbClr val="6B4B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12종 평균</a:t>
                      </a:r>
                    </a:p>
                  </a:txBody>
                  <a:tcPr marL="73152" marR="73152" marT="27432" marB="27432" anchor="ctr">
                    <a:solidFill>
                      <a:srgbClr val="6B4B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baseline (평면)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16.3 (n=1)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 지형 무작위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44.4 ± 1.0 (n=2)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V2 난이도 차선 커리큘럼</a:t>
                      </a:r>
                    </a:p>
                  </a:txBody>
                  <a:tcPr marL="73152" marR="73152" marT="27432" marB="27432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47.5 ± 0.6 (n=3)</a:t>
                      </a:r>
                    </a:p>
                  </a:txBody>
                  <a:tcPr marL="73152" marR="73152" marT="27432" marB="27432" anchor="ctr">
                    <a:solidFill>
                      <a:srgbClr val="EEE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A-noPromo (승급·강등 제거)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46.8 ± 0.9 (n=2)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A-randDiff (난이도 정렬 제거)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47.9 ± 0.5 (n=2)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V6′ 자세 제약 종료 CaT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44.4 (n=1)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V10 외란 + 기울기 페널티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43.8 (n=1)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V11 레벨별 지면 마찰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37.5 (n=1)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949440" y="1280160"/>
            <a:ext cx="475488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8A5A"/>
                </a:solidFill>
                <a:latin typeface="맑은 고딕"/>
                <a:ea typeface="맑은 고딕"/>
                <a:cs typeface="맑은 고딕"/>
              </a:rPr>
              <a:t>H1 경험 부족 — 지지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지형을 경험시키면 16 → 47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커리큘럼을 빼도 그대로 → </a:t>
            </a:r>
            <a:r>
              <a:rPr sz="1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커리큘럼 효과 미미</a:t>
            </a:r>
          </a:p>
          <a:p>
            <a:pPr algn="l" lvl="1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– 핵심은 어떤 지형을 얼마나 경험하느냐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H2 자세 제약 부족 — 기각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자세를 제약하거나 흔들어도 모두 V2 이하</a:t>
            </a:r>
          </a:p>
          <a:p>
            <a:pPr algn="l" lvl="1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– 평지 낙상률 V2 66% → V6′ 70% · V10 63%</a:t>
            </a:r>
          </a:p>
          <a:p>
            <a:pPr algn="l" lvl="1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– 조심시키면 덜 걸을 뿐, 뒤집힘은 줄지 않음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맑은 고딕"/>
                <a:ea typeface="맑은 고딕"/>
                <a:cs typeface="맑은 고딕"/>
              </a:rPr>
              <a:t>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맑은 고딕"/>
                <a:ea typeface="맑은 고딕"/>
                <a:cs typeface="맑은 고딕"/>
              </a:rPr>
              <a:t>출처: results/summary_round2.md (최종 모델) · V6′·V10·V11은 seed 1개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축 2 결과 — H3 지지 · H4 결합 시 지지: 로봇을 바꾸는 쪽이 컸다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67665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실험</a:t>
                      </a:r>
                    </a:p>
                  </a:txBody>
                  <a:tcPr marL="73152" marR="73152" marT="27432" marB="27432" anchor="ctr">
                    <a:solidFill>
                      <a:srgbClr val="6B4B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12종 평균</a:t>
                      </a:r>
                    </a:p>
                  </a:txBody>
                  <a:tcPr marL="73152" marR="73152" marT="27432" marB="27432" anchor="ctr">
                    <a:solidFill>
                      <a:srgbClr val="6B4BC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V2 (대조군)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47.5 ± 0.6 (n=3)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V12 발 접촉 센서 + 히스토리 3 step + 정규화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53.1 ± 1.4 (n=2)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V14 발 외피 재질 μ0.4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56.0 ± 3.5 (n=2)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V1214 = V12 + V14</a:t>
                      </a:r>
                    </a:p>
                  </a:txBody>
                  <a:tcPr marL="73152" marR="73152" marT="27432" marB="27432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74.7 ± 1.5 (n=3)</a:t>
                      </a:r>
                    </a:p>
                  </a:txBody>
                  <a:tcPr marL="73152" marR="73152" marT="27432" marB="27432" anchor="ctr">
                    <a:solidFill>
                      <a:srgbClr val="EEEA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V1214B = V1214 + 블록 70% 지형</a:t>
                      </a:r>
                    </a:p>
                  </a:txBody>
                  <a:tcPr marL="73152" marR="73152" marT="27432" marB="27432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78.3 ± 2.1 (n=4)</a:t>
                      </a:r>
                    </a:p>
                  </a:txBody>
                  <a:tcPr marL="73152" marR="73152" marT="27432" marB="27432" anchor="ctr">
                    <a:solidFill>
                      <a:srgbClr val="EEEA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80960" y="1280160"/>
            <a:ext cx="4023360" cy="3108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6B4BC4"/>
                </a:solidFill>
                <a:latin typeface="맑은 고딕"/>
                <a:ea typeface="맑은 고딕"/>
                <a:cs typeface="맑은 고딕"/>
              </a:rPr>
              <a:t>감각 × 물성 상호작용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따로는 +5.6 / +8.5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함께는 </a:t>
            </a:r>
            <a:r>
              <a:rPr sz="1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+27.2</a:t>
            </a: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(합 14.1보다 큼)</a:t>
            </a:r>
          </a:p>
          <a:p>
            <a:pPr algn="l" lvl="1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– 감각이 외피의 미끄러짐을 보정한다는 해석 (직접 검증은 안 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94415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감각 분해 (V1214 기준, n=1): 히스토리 제거 68.5 · LSTM으로 대체 67.1 → </a:t>
            </a:r>
            <a:r>
              <a:rPr sz="1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짧은 기억 + MLP</a:t>
            </a: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가 최선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환경 쪽 변경(40점대)보다 </a:t>
            </a:r>
            <a:r>
              <a:rPr sz="1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로봇 쪽 변경(70점대)</a:t>
            </a: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이 컸다</a:t>
            </a:r>
          </a:p>
          <a:p>
            <a:pPr algn="l" lvl="1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– V12·V14·V1214는 V2 지형, V1214B만 블록 70% 지형 · 외피는 Python cfg만 수정 (물성치 변경 허용 공지)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맑은 고딕"/>
                <a:ea typeface="맑은 고딕"/>
                <a:cs typeface="맑은 고딕"/>
              </a:rPr>
              <a:t>6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맑은 고딕"/>
                <a:ea typeface="맑은 고딕"/>
                <a:cs typeface="맑은 고딕"/>
              </a:rPr>
              <a:t>출처: results/summary_round2.md (최종 모델)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외피 마찰 sweep — H4: 마찰에는 내부 최적이 있다</a:t>
            </a:r>
          </a:p>
        </p:txBody>
      </p:sp>
      <p:pic>
        <p:nvPicPr>
          <p:cNvPr id="4" name="Picture 3" descr="r2_mu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852160" cy="36013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280160"/>
            <a:ext cx="502920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V1214R 위 μ sweep (12종 평균)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μ 0.2 — 71.5 (n=1)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μ 0.3 — </a:t>
            </a:r>
            <a:r>
              <a:rPr sz="1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73.6 ± 3.6 (n=3)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μ 0.4 — 71.7 ± 7.2 (n=3)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μ 0.6 — 67.7 (n=1)</a:t>
            </a:r>
          </a:p>
          <a:p>
            <a:pPr algn="l" lvl="1">
              <a:spcAft>
                <a:spcPts val="400"/>
              </a:spcAft>
            </a:pP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– 높으면 걸려 뒤집히고, 낮으면 미끄러진다 (예측과 일치)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3977639"/>
            <a:ext cx="4983480" cy="2103120"/>
          </a:xfrm>
          <a:prstGeom prst="roundRect">
            <a:avLst>
              <a:gd name="adj" fmla="val 8000"/>
            </a:avLst>
          </a:prstGeom>
          <a:solidFill>
            <a:srgbClr val="EE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4023360"/>
            <a:ext cx="475488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B4BC4"/>
                </a:solidFill>
                <a:latin typeface="맑은 고딕"/>
                <a:ea typeface="맑은 고딕"/>
                <a:cs typeface="맑은 고딕"/>
              </a:rPr>
              <a:t>결론 철회 사례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V1214B에서 seed 1개로 "μ0.4가 μ0.3보다 낫다" (79.4 vs 73.7)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3 seed: μ0.4 78.3 ± 2.5 = μ0.3 78.3 ± 4.2 → </a:t>
            </a:r>
            <a:r>
              <a:rPr sz="15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철회</a:t>
            </a:r>
          </a:p>
          <a:p>
            <a:pPr algn="l" lvl="1">
              <a:spcAft>
                <a:spcPts val="400"/>
              </a:spcAft>
            </a:pPr>
            <a:r>
              <a:rPr sz="13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– 이후 결론은 seed 3개 이상에서만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맑은 고딕"/>
                <a:ea typeface="맑은 고딕"/>
                <a:cs typeface="맑은 고딕"/>
              </a:rPr>
              <a:t>7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맑은 고딕"/>
                <a:ea typeface="맑은 고딕"/>
                <a:cs typeface="맑은 고딕"/>
              </a:rPr>
              <a:t>그림: docs/figures/r2_mu_sweep.png · 출처: summary_round2.md, log_1003.md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대칭 증강 V8 — H5 지지: 거울 경험으로 +12.9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4846320" cy="4937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Ant 몸은 좌우 대칭 → PPO 업데이트 때 상태·행동을 </a:t>
            </a:r>
            <a:r>
              <a:rPr sz="1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좌우 거울로 뒤집어 추가</a:t>
            </a:r>
          </a:p>
          <a:p>
            <a:pPr algn="l" lvl="1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– rollout 1번으로 2배 경험, 파라미터 추가 없음 (Mittal et al., ICRA 2024)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V8 91.2 ± 2.8 (n=4)</a:t>
            </a: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vs V1214B 78.3 ± 2.1 (n=4)</a:t>
            </a:r>
          </a:p>
          <a:p>
            <a:pPr algn="l" lvl="1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– 4 seed 모두 V1214B 최고 seed보다 높음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거울 맵을 </a:t>
            </a:r>
            <a:r>
              <a:rPr sz="1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시뮬레이션에서 검증</a:t>
            </a:r>
          </a:p>
          <a:p>
            <a:pPr algn="l" lvl="1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– env 1을 env 0의 거울 상태로 두고 거울 행동으로 같이 굴려 비교 (240쌍, 상관 +0.81~1.00)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발 반력(관절 wrench) 부호는 손 유도 실패 → </a:t>
            </a:r>
            <a:r>
              <a:rPr sz="1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상관으로 측정</a:t>
            </a: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(0.81~0.99)</a:t>
            </a:r>
          </a:p>
        </p:txBody>
      </p:sp>
      <p:pic>
        <p:nvPicPr>
          <p:cNvPr id="5" name="Picture 4" descr="r2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80160"/>
            <a:ext cx="6035040" cy="32960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맑은 고딕"/>
                <a:ea typeface="맑은 고딕"/>
                <a:cs typeface="맑은 고딕"/>
              </a:rPr>
              <a:t>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맑은 고딕"/>
                <a:ea typeface="맑은 고딕"/>
                <a:cs typeface="맑은 고딕"/>
              </a:rPr>
              <a:t>그림: docs/figures/r2_heatmap.png (지형별 reward) · 코드: tasks/symmetry.py, scripts/check_symmetry.py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대칭 어블레이션 — 이득은 어디서 오는가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9441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2958510"/>
                <a:gridCol w="2588696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실험</a:t>
                      </a:r>
                    </a:p>
                  </a:txBody>
                  <a:tcPr marL="73152" marR="73152" marT="27432" marB="27432" anchor="ctr">
                    <a:solidFill>
                      <a:srgbClr val="6B4B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12종 평균</a:t>
                      </a:r>
                    </a:p>
                  </a:txBody>
                  <a:tcPr marL="73152" marR="73152" marT="27432" marB="27432" anchor="ctr">
                    <a:solidFill>
                      <a:srgbClr val="6B4B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대조군 대비</a:t>
                      </a:r>
                    </a:p>
                  </a:txBody>
                  <a:tcPr marL="73152" marR="73152" marT="27432" marB="27432" anchor="ctr">
                    <a:solidFill>
                      <a:srgbClr val="6B4BC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V1214B (대조군)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78.3 ± 2.1 (n=4)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V8 거울 데이터 증강</a:t>
                      </a:r>
                    </a:p>
                  </a:txBody>
                  <a:tcPr marL="73152" marR="73152" marT="27432" marB="27432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91.2 ± 2.8 (n=4)</a:t>
                      </a:r>
                    </a:p>
                  </a:txBody>
                  <a:tcPr marL="73152" marR="73152" marT="27432" marB="27432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+12.9</a:t>
                      </a:r>
                    </a:p>
                  </a:txBody>
                  <a:tcPr marL="73152" marR="73152" marT="27432" marB="27432" anchor="ctr">
                    <a:solidFill>
                      <a:srgbClr val="EEEA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V8-ML "대칭으로 행동하라" 손실만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77.9 ± 1.1 (n=2)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−0.4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V2Sym 기본 로봇 + 증강 (대조군 V2 47.5)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50.2 ± 2.7 (n=3)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+2.7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43400"/>
            <a:ext cx="11094415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대칭을 강제하는 손실만으로는 효과 없음 → 이득은 </a:t>
            </a:r>
            <a:r>
              <a:rPr sz="17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거울 데이터(경험)</a:t>
            </a:r>
            <a:r>
              <a:rPr sz="17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에서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감각·물성 변경이 없는 기본 로봇에서는 +2.7뿐 → </a:t>
            </a:r>
            <a:r>
              <a:rPr sz="17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로봇 변경 위에서만 크게 작동</a:t>
            </a:r>
            <a:r>
              <a:rPr sz="17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(+12.9 vs +2.7)</a:t>
            </a:r>
          </a:p>
          <a:p>
            <a:pPr algn="l" lvl="1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– 감각이 풍부할 때 거울 데이터가 크게 작동한다는 상호작용은 해석 단계 (직접 검증은 안 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맑은 고딕"/>
                <a:ea typeface="맑은 고딕"/>
                <a:cs typeface="맑은 고딕"/>
              </a:rPr>
              <a:t>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맑은 고딕"/>
                <a:ea typeface="맑은 고딕"/>
                <a:cs typeface="맑은 고딕"/>
              </a:rPr>
              <a:t>출처: results/summary_round2.md, docs/log_1004.md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최종 제출과 잠금 테스트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최종 모델 </a:t>
            </a:r>
            <a:r>
              <a:rPr sz="1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v8_s44@2999</a:t>
            </a: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사전 규칙(선택용 held-out 1위) 111.5 · 낙상률 0.117 · 보고용 98.4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제출 태스크 Isaac-Ant-Team12-v0, 공식 평면 </a:t>
            </a:r>
            <a:r>
              <a:rPr sz="1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174.73 ± 12.67</a:t>
            </a: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(baseline 134.90 ± 27.74)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1109441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723"/>
                <a:gridCol w="2307638"/>
                <a:gridCol w="2485148"/>
                <a:gridCol w="2573904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잠금 테스트 UnseenMix (공식 조건, 1회)</a:t>
                      </a:r>
                    </a:p>
                  </a:txBody>
                  <a:tcPr marL="73152" marR="73152" marT="27432" marB="27432" anchor="ctr">
                    <a:solidFill>
                      <a:srgbClr val="6B4B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반영 가설</a:t>
                      </a:r>
                    </a:p>
                  </a:txBody>
                  <a:tcPr marL="73152" marR="73152" marT="27432" marB="27432" anchor="ctr">
                    <a:solidFill>
                      <a:srgbClr val="6B4B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reward</a:t>
                      </a:r>
                    </a:p>
                  </a:txBody>
                  <a:tcPr marL="73152" marR="73152" marT="27432" marB="27432" anchor="ctr">
                    <a:solidFill>
                      <a:srgbClr val="6B4B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step (960 = 완주)</a:t>
                      </a:r>
                    </a:p>
                  </a:txBody>
                  <a:tcPr marL="73152" marR="73152" marT="27432" marB="27432" anchor="ctr">
                    <a:solidFill>
                      <a:srgbClr val="6B4B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baseline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9.51 ± 7.52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46.70 ± 30.17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V1214B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H1 + H3 + H4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100.19 ± 22.11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V8 (최종)</a:t>
                      </a:r>
                    </a:p>
                  </a:txBody>
                  <a:tcPr marL="73152" marR="73152" marT="27432" marB="27432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 H5</a:t>
                      </a:r>
                    </a:p>
                  </a:txBody>
                  <a:tcPr marL="73152" marR="73152" marT="27432" marB="27432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113.65 ± 29.03</a:t>
                      </a:r>
                    </a:p>
                  </a:txBody>
                  <a:tcPr marL="73152" marR="73152" marT="27432" marB="27432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938</a:t>
                      </a:r>
                    </a:p>
                  </a:txBody>
                  <a:tcPr marL="73152" marR="73152" marT="27432" marB="27432" anchor="ctr">
                    <a:solidFill>
                      <a:srgbClr val="EEEA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800600"/>
            <a:ext cx="11094415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자체 평가 순서가 처음 보는 잠금 테스트에서도 그대로 · 대칭 효과 +12.9 (자체) ↔ +13.5 (잠금)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타당성 점검: 약 27%가 평가 지형 밖으로 나감 → 지형 안 로봇만 비교해도 순서 그대로 (9.1 &lt; 42.6 &lt; 87.8 &lt; 104.6)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맑은 고딕"/>
                <a:ea typeface="맑은 고딕"/>
                <a:cs typeface="맑은 고딕"/>
              </a:rPr>
              <a:t>10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맑은 고딕"/>
                <a:ea typeface="맑은 고딕"/>
                <a:cs typeface="맑은 고딕"/>
              </a:rPr>
              <a:t>출처: docs/report_material.md 6절, results/official_test.csv · 지형 밖 점검은 eval 스크립트 기준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영상 — 최종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docs/media/ (git 미포함, 워크스테이션) · 1280×720 · 960 step = 완주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C8C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썸네일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2606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평면 (제출 태스크)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final_plane.mp4 · 180.5 · 960 step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60020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C8C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썸네일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3108960"/>
            <a:ext cx="2606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평지 (메시)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final_flat.mp4 · 144.0 · 960 step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0020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C8C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썸네일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108960"/>
            <a:ext cx="2606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레일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final_rails.mp4 · 137.9 · 960 step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160020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C8C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썸네일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3108960"/>
            <a:ext cx="2606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블록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final_grid.mp4 · 125.4 · 960 step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43100" y="393192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C8C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썸네일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3100" y="5440680"/>
            <a:ext cx="2606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피라미드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final_pyramids.mp4 · 105.8 · 960 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32020" y="393192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C8C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썸네일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2020" y="5440680"/>
            <a:ext cx="2606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계단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final_stairs.mp4 · 101.9 · 960 step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0940" y="393192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E8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썸네일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0940" y="5440680"/>
            <a:ext cx="2606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평지 seed 27 — 뒤집힘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final_flat_fail.mp4 · 100.7 · 713 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맑은 고딕"/>
                <a:ea typeface="맑은 고딕"/>
                <a:cs typeface="맑은 고딕"/>
              </a:rPr>
              <a:t>11 /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맑은 고딕"/>
                <a:ea typeface="맑은 고딕"/>
                <a:cs typeface="맑은 고딕"/>
              </a:rPr>
              <a:t>출처: docs/media/videos.csv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한계와 배운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7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뒤집힘 자체는 남았다</a:t>
            </a:r>
            <a:r>
              <a:rPr sz="17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평지 낙상률 V2 66.3% / V8 65.8%</a:t>
            </a:r>
          </a:p>
          <a:p>
            <a:pPr algn="l" lvl="1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– 향상은 넘어지기 전까지 더 멀리 걷는 데서 왔다 → 다음 연구 문제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평가 지형 폭(32 m)이 빠른 정책에는 좁다: 약 27% 이탈 → 결론은 같지만 넓은 지형 재평가는 못 함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높이 스캔(RayCaster) 미사용: 정적 메시 1개만 지원 → 조교 지형이 박스 prim이면 에러</a:t>
            </a:r>
          </a:p>
          <a:p>
            <a:pPr algn="l" lvl="1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맑은 고딕"/>
                <a:ea typeface="맑은 고딕"/>
                <a:cs typeface="맑은 고딕"/>
              </a:rPr>
              <a:t>– 지형과 무관한 발 접촉 센서 + 히스토리로 대체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seed 1개 결론은 뒤집힐 수 있다 (μ 철회) → 결론은 seed 3개 이상 · V6′·V10·V11은 seed 1개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• 실험 운영: 백그라운드 실행 알림 누락으로 GPU가 놀았던 일 → 실행 도구·절대 경로로 통일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53212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EE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559552"/>
            <a:ext cx="10545775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6B4BC4"/>
                </a:solidFill>
                <a:latin typeface="맑은 고딕"/>
                <a:ea typeface="맑은 고딕"/>
                <a:cs typeface="맑은 고딕"/>
              </a:rPr>
              <a:t>처음 보는 지형에서 걷게 만든 건 "조심"이 아니라 감각과 경험이었다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맑은 고딕"/>
                <a:ea typeface="맑은 고딕"/>
                <a:cs typeface="맑은 고딕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