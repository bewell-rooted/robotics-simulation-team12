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팀 소개. "평면에서만 배운 Ant를 처음 보는 지형에서도 걷게 만든 과정을 가설과 검증 순서로 말씀드리겠습니다."</a:t>
            </a:r>
          </a:p>
          <a:p>
            <a:r>
              <a:t>[구성원] 이름 채우기.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연구 문제를 먼저 던지고, 진단 실험 두 개(성능 붕괴, 뒤집힘)로 문제를 좁혔다는 점을 강조.</a:t>
            </a:r>
          </a:p>
          <a:p>
            <a:r>
              <a:t>높이가 아니라 자세(뒤집힘)가 표적이라는 것이 이후 가설의 출발점.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평가를 먼저 설계했다. 체크포인트를 고르는 지형과 결론을 말하는 지형을 분리해 "고른 지형에 맞춘 결과"를 막았다.</a:t>
            </a:r>
          </a:p>
          <a:p>
            <a:r>
              <a:t>잠금 테스트는 최종 선택이 끝난 뒤 한 번만 돌렸다.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사다리 그림 하나로 전체를 보여 준다. 왼쪽(환경)은 40점대에서 멈추고, 로봇을 바꾸면 70점대, 대칭 증강으로 90점대.</a:t>
            </a:r>
          </a:p>
          <a:p>
            <a:r>
              <a:t>이후 슬라이드는 이 그림의 각 구간을 가설별로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H2는 팀원 의견에서 출발한 가설인데 실험으로 기각됐다. 조심시키면 덜 걸을 뿐 뒤집힘은 줄지 않았다 → 원인은 정보·능력 쪽이라고 보고 축 2로.</a:t>
            </a:r>
          </a:p>
          <a:p>
            <a:r>
              <a:t>V6′·V10·V11은 seed 1개라 근거가 약하다는 점도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센서는 물리를 바꾸지 않고 정책이 아는 정보만 늘린다. 외피는 발과 지면의 마찰을 바꾼다.</a:t>
            </a:r>
          </a:p>
          <a:p>
            <a:r>
              <a:t>둘을 합쳤을 때 합보다 크게 오른 것이 핵심 — 감각이 외피의 미끄러짐을 보정한다는 해석 (직접 검증은 안 함).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진단에서 본 "마찰이 클수록 뒤집힘"이 가설의 출발점. 외피 마찰을 바꿔 보니 중간값이 가장 좋았다.</a:t>
            </a:r>
          </a:p>
          <a:p>
            <a:r>
              <a:t>seed 하나로 결론을 냈다가 뒤집힌 경험을 그대로 보여 주는 것이 실험 설계의 신뢰성.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발표의 독창성 포인트. "왼발로 익힌 요령은 오른발도 안다"는 경험을 학습 데이터로 모델링.</a:t>
            </a:r>
          </a:p>
          <a:p>
            <a:r>
              <a:t>추측 대신 측정으로 맵을 확정한 과정을 짧게. 히트맵에서 맨 아래 V8 행이 거의 모든 지형에서 가장 진하다.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대조 실험 두 개로 "대칭인 정책"과 "거울 경험"을 분리했다.</a:t>
            </a:r>
          </a:p>
          <a:p>
            <a:r>
              <a:t>감각이 풍부할 때 거울 데이터가 크게 작동한다는 상호작용은 해석 단계.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자체 평가에서 본 순서가 처음 보는 잠금 테스트에서도 그대로 나왔다 → 결론이 평가 지형에 과적합되지 않았다.</a:t>
            </a:r>
          </a:p>
          <a:p>
            <a:r>
              <a:t>평가 지형 이탈은 스스로 찾아 점검했다는 점을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블록·계단 영상 하나와 실패 영상 하나를 보여 준다. 실패도 713 step까지 걸은 뒤 뒤집힘 — 남은 한계로 연결.</a:t>
            </a:r>
          </a:p>
          <a:p>
            <a:r>
              <a:t>"영상 자리" 상자에 영상(또는 첫 프레임)을 넣기.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한계를 숨기지 않는다. 특히 "뒤집힘은 그대로"는 다음 연구 문제로 제시.</a:t>
            </a:r>
          </a:p>
          <a:p>
            <a:r>
              <a:t>참고문헌: Rudin CoRL 2021 · Cobbe ICML 2019 · Chane-Sane (CaT) IROS 2024 · Kumar (RMA) RSS 2021 · Mittal ICRA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10545775" cy="5577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234440"/>
            <a:ext cx="9265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ROBOTICS SIMULATION · 과제 1 · 팀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54480"/>
            <a:ext cx="92656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000" b="1">
                <a:solidFill>
                  <a:srgbClr val="241E19"/>
                </a:solidFill>
                <a:latin typeface="Noto Serif KR"/>
                <a:ea typeface="Noto Serif KR"/>
                <a:cs typeface="Noto Serif KR"/>
              </a:rPr>
              <a:t>처음 보는 지형에서도 걷는 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514600"/>
            <a:ext cx="92656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55493F"/>
                </a:solidFill>
                <a:latin typeface="Pretendard"/>
                <a:ea typeface="Pretendard"/>
                <a:cs typeface="Pretendard"/>
              </a:rPr>
              <a:t>평면에서만 배운 Ant는 왜 처음 보는 지형에서 무너지는가 — 관찰에서 가설 5개를 세우고, 통제 실험과 잠금 테스트로 검증했다.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429000"/>
            <a:ext cx="92656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팀 12</a:t>
            </a:r>
            <a:r>
              <a:rPr sz="13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 박형근 · 경한 · [구성원]      </a:t>
            </a:r>
            <a:r>
              <a:rPr sz="1300" b="1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발표</a:t>
            </a:r>
            <a:r>
              <a:rPr sz="13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 2026.10.08      </a:t>
            </a:r>
            <a:r>
              <a:rPr sz="1300" b="1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환경</a:t>
            </a:r>
            <a:r>
              <a:rPr sz="13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 Isaac Lab 2.3.0 · RSL-RL PPO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3840480"/>
            <a:ext cx="9265615" cy="9525"/>
          </a:xfrm>
          <a:prstGeom prst="rect">
            <a:avLst/>
          </a:prstGeom>
          <a:solidFill>
            <a:srgbClr val="E9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4206240"/>
            <a:ext cx="2110663" cy="19050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315968"/>
            <a:ext cx="21106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0">
                <a:solidFill>
                  <a:srgbClr val="7A2E2E"/>
                </a:solidFill>
                <a:latin typeface="JetBrains Mono"/>
                <a:ea typeface="Pretendard"/>
                <a:cs typeface="Pretendard"/>
              </a:rPr>
              <a:t>91.2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846320"/>
            <a:ext cx="2110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처음 보는 지형 12종 평균 reward
baseline 16.3 → 최종 V8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8023" y="4206240"/>
            <a:ext cx="2110663" cy="19050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8023" y="4315968"/>
            <a:ext cx="21106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0">
                <a:solidFill>
                  <a:srgbClr val="241E19"/>
                </a:solidFill>
                <a:latin typeface="JetBrains Mono"/>
                <a:ea typeface="Pretendard"/>
                <a:cs typeface="Pretendard"/>
              </a:rPr>
              <a:t>113.65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8023" y="4846320"/>
            <a:ext cx="2110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잠금 테스트 UnseenMix (1회)
baseline 9.51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4206240"/>
            <a:ext cx="2110663" cy="19050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7" y="4315968"/>
            <a:ext cx="21106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0">
                <a:solidFill>
                  <a:srgbClr val="241E19"/>
                </a:solidFill>
                <a:latin typeface="JetBrains Mono"/>
                <a:ea typeface="Pretendard"/>
                <a:cs typeface="Pretendard"/>
              </a:rPr>
              <a:t>174.73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4846320"/>
            <a:ext cx="2110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제출 태스크 공식 평면
baseline 134.90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17991" y="4206240"/>
            <a:ext cx="2110663" cy="19050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17991" y="4315968"/>
            <a:ext cx="21106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0">
                <a:solidFill>
                  <a:srgbClr val="241E19"/>
                </a:solidFill>
                <a:latin typeface="JetBrains Mono"/>
                <a:ea typeface="Pretendard"/>
                <a:cs typeface="Pretendar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7991" y="4846320"/>
            <a:ext cx="21106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가설 — 지지 3 · 부분 1 · 기각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10820095" cy="28575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02 · 연구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spc="-30">
                <a:solidFill>
                  <a:srgbClr val="241E19"/>
                </a:solidFill>
                <a:latin typeface="Noto Serif KR"/>
                <a:ea typeface="Noto Serif KR"/>
                <a:cs typeface="Noto Serif KR"/>
              </a:rPr>
              <a:t>왜 처음 보는 지형에서 무너지는가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E9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출처: docs/report_material.md 2절 (진단 실험, log_0930)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9A8877"/>
                </a:solidFill>
                <a:latin typeface="JetBrains Mono"/>
                <a:ea typeface="Pretendard"/>
                <a:cs typeface="Pretendard"/>
              </a:rPr>
              <a:t>02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10820095" cy="960120"/>
          </a:xfrm>
          <a:prstGeom prst="rect">
            <a:avLst/>
          </a:prstGeom>
          <a:solidFill>
            <a:srgbClr val="F7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31750" cy="96012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28216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연구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02536"/>
            <a:ext cx="104543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2100" b="1">
                <a:solidFill>
                  <a:srgbClr val="7A2E2E"/>
                </a:solidFill>
                <a:latin typeface="Noto Serif KR"/>
                <a:ea typeface="Noto Serif KR"/>
                <a:cs typeface="Noto Serif KR"/>
              </a:rPr>
              <a:t>평면에서 학습한 Ant는 왜 처음 보는 지형에서 무너지는가?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80360"/>
            <a:ext cx="5181447" cy="19050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90088"/>
            <a:ext cx="51814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55493F"/>
                </a:solidFill>
                <a:latin typeface="Pretendard"/>
                <a:ea typeface="Pretendard"/>
                <a:cs typeface="Pretendard"/>
              </a:rPr>
              <a:t>관찰 1 · 성능 붕괴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91840"/>
            <a:ext cx="51814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0">
                <a:solidFill>
                  <a:srgbClr val="7A2E2E"/>
                </a:solidFill>
                <a:latin typeface="JetBrains Mono"/>
                <a:ea typeface="Pretendard"/>
                <a:cs typeface="Pretendard"/>
              </a:rPr>
              <a:t>134.90 → 16.3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51814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baseline 공식 평면 → 처음 보는 지형 12종 평균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4447" y="2880360"/>
            <a:ext cx="5181447" cy="19050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4447" y="2990088"/>
            <a:ext cx="51814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55493F"/>
                </a:solidFill>
                <a:latin typeface="Pretendard"/>
                <a:ea typeface="Pretendard"/>
                <a:cs typeface="Pretendard"/>
              </a:rPr>
              <a:t>관찰 2 · 실패 = 뒤집힘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291840"/>
            <a:ext cx="51814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0">
                <a:solidFill>
                  <a:srgbClr val="7A2E2E"/>
                </a:solidFill>
                <a:latin typeface="JetBrains Mono"/>
                <a:ea typeface="Pretendard"/>
                <a:cs typeface="Pretendard"/>
              </a:rPr>
              <a:t>59 m → 59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3931920"/>
            <a:ext cx="51814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종료 높이 임계 0.31 → 0.20에도 전진 거리 그대로 — 이미 뒤집혀 누운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00600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18000"/>
              </a:lnSpc>
              <a:spcAft>
                <a:spcPts val="700"/>
              </a:spcAft>
              <a:buClr>
                <a:srgbClr val="9A8877"/>
              </a:buClr>
              <a:buFont typeface="Arial"/>
              <a:buChar char="•"/>
            </a:pPr>
            <a:r>
              <a:rPr sz="16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과제: Isaac-Ant-v0 정책이 </a:t>
            </a:r>
            <a:r>
              <a:rPr sz="16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지형 형태·마찰만 바뀐 처음 보는 환경</a:t>
            </a:r>
            <a:r>
              <a:rPr sz="16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에서도 걷게 만들기</a:t>
            </a:r>
          </a:p>
          <a:p>
            <a:pPr algn="l" marL="219456" indent="-219456">
              <a:lnSpc>
                <a:spcPct val="118000"/>
              </a:lnSpc>
              <a:spcAft>
                <a:spcPts val="700"/>
              </a:spcAft>
              <a:buClr>
                <a:srgbClr val="9A8877"/>
              </a:buClr>
              <a:buFont typeface="Arial"/>
              <a:buChar char="•"/>
            </a:pPr>
            <a:r>
              <a:rPr sz="16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조교 평가는 우리 태스크 설정으로 로드하고 지형만 교체 → </a:t>
            </a:r>
            <a:r>
              <a:rPr sz="16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학습 환경 + 로봇(센서·물성) + 학습 방법</a:t>
            </a:r>
            <a:r>
              <a:rPr sz="16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이 설계 대상 (구조 변경은 불가)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10820095" cy="28575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03 · 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spc="-30">
                <a:solidFill>
                  <a:srgbClr val="241E19"/>
                </a:solidFill>
                <a:latin typeface="Noto Serif KR"/>
                <a:ea typeface="Noto Serif KR"/>
                <a:cs typeface="Noto Serif KR"/>
              </a:rPr>
              <a:t>학습과 분리된 4단 평가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E9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출처: docs/report_material.md 4절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9A8877"/>
                </a:solidFill>
                <a:latin typeface="JetBrains Mono"/>
                <a:ea typeface="Pretendard"/>
                <a:cs typeface="Pretendard"/>
              </a:rPr>
              <a:t>03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45920"/>
          <a:ext cx="10820094" cy="2514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23269"/>
                <a:gridCol w="6685587"/>
                <a:gridCol w="211123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549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41E1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549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지형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41E1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549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용도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41E19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분석용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12종 — 평지 · 블록 6종 · 계단 · 파도 · 빙판 · 상자 · 레일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가설 비교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선택용 held-out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Boxes · Rails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체크포인트 선택에만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보고용 held-out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SlopedGrid · Pyramids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선택 뒤 보고만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잠금 테스트</a:t>
                      </a:r>
                    </a:p>
                  </a:txBody>
                  <a:tcPr marL="91440" marR="91440" marT="36576" marB="36576" anchor="ctr">
                    <a:solidFill>
                      <a:srgbClr val="F7E9E8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UnseenMix — 학습 범위 밖 블록 · 피라미드 · 경사 위 블록 · 원기둥 · 평지</a:t>
                      </a:r>
                    </a:p>
                  </a:txBody>
                  <a:tcPr marL="91440" marR="91440" marT="36576" marB="36576" anchor="ctr">
                    <a:solidFill>
                      <a:srgbClr val="F7E9E8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마지막 1회 (10.05)</a:t>
                      </a:r>
                    </a:p>
                  </a:txBody>
                  <a:tcPr marL="91440" marR="91440" marT="36576" marB="36576" anchor="ctr">
                    <a:solidFill>
                      <a:srgbClr val="F7E9E8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4434840"/>
            <a:ext cx="1082009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18000"/>
              </a:lnSpc>
              <a:spcAft>
                <a:spcPts val="700"/>
              </a:spcAft>
              <a:buClr>
                <a:srgbClr val="9A8877"/>
              </a:buClr>
              <a:buFont typeface="Arial"/>
              <a:buChar char="•"/>
            </a:pPr>
            <a:r>
              <a:rPr sz="16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공식 명령 </a:t>
            </a:r>
            <a:r>
              <a:rPr sz="1472" b="0">
                <a:solidFill>
                  <a:srgbClr val="2E5163"/>
                </a:solidFill>
                <a:latin typeface="JetBrains Mono"/>
                <a:ea typeface="Pretendard"/>
                <a:cs typeface="Pretendard"/>
              </a:rPr>
              <a:t>play_one_episode.py --seed 24 --num_envs 100</a:t>
            </a:r>
            <a:r>
              <a:rPr sz="16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 · 원래 보상 · 첫 에피소드 누적 reward (조교 지표와 동일)</a:t>
            </a:r>
          </a:p>
          <a:p>
            <a:pPr algn="l" marL="219456" indent="-219456">
              <a:lnSpc>
                <a:spcPct val="118000"/>
              </a:lnSpc>
              <a:spcAft>
                <a:spcPts val="700"/>
              </a:spcAft>
              <a:buClr>
                <a:srgbClr val="9A8877"/>
              </a:buClr>
              <a:buFont typeface="Arial"/>
              <a:buChar char="•"/>
            </a:pPr>
            <a:r>
              <a:rPr sz="16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학습 seed 2~4개 반복 · 한 번에 한 요인만 바꾸는 통제 비교</a:t>
            </a:r>
          </a:p>
          <a:p>
            <a:pPr algn="l" marL="219456" indent="-219456">
              <a:lnSpc>
                <a:spcPct val="118000"/>
              </a:lnSpc>
              <a:spcAft>
                <a:spcPts val="700"/>
              </a:spcAft>
              <a:buClr>
                <a:srgbClr val="9A8877"/>
              </a:buClr>
              <a:buFont typeface="Arial"/>
              <a:buChar char="•"/>
            </a:pPr>
            <a:r>
              <a:rPr sz="16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선택 규칙 </a:t>
            </a:r>
            <a:r>
              <a:rPr sz="16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"선택용 held-out 1위"를 사전 고정</a:t>
            </a:r>
            <a:r>
              <a:rPr sz="16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 → 고른 지형에 맞춘 결과를 막음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10820095" cy="28575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04 · 가설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spc="-30">
                <a:solidFill>
                  <a:srgbClr val="241E19"/>
                </a:solidFill>
                <a:latin typeface="Noto Serif KR"/>
                <a:ea typeface="Noto Serif KR"/>
                <a:cs typeface="Noto Serif KR"/>
              </a:rPr>
              <a:t>가설 5개, 세 갈래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E9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막대 = 학습 seed 평균, 점 = seed별 · 값 = 처음 보는 지형 12종 평균 reward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9A8877"/>
                </a:solidFill>
                <a:latin typeface="JetBrains Mono"/>
                <a:ea typeface="Pretendard"/>
                <a:cs typeface="Pretendard"/>
              </a:rPr>
              <a:t>04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3423818" cy="19050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축 1 · 환경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34238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241E19"/>
                </a:solidFill>
                <a:latin typeface="Noto Serif KR"/>
                <a:ea typeface="Noto Serif KR"/>
                <a:cs typeface="Noto Serif KR"/>
              </a:rPr>
              <a:t>H1 경험 부족  ·  H2 자세 제약 부족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3938" y="1600200"/>
            <a:ext cx="3423818" cy="19050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3938" y="1691640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축 2 · 로봇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3938" y="1965960"/>
            <a:ext cx="34238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241E19"/>
                </a:solidFill>
                <a:latin typeface="Noto Serif KR"/>
                <a:ea typeface="Noto Serif KR"/>
                <a:cs typeface="Noto Serif KR"/>
              </a:rPr>
              <a:t>H3 감각 부족  ·  H4 접촉 물성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2076" y="1600200"/>
            <a:ext cx="3423818" cy="19050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2076" y="1691640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학습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2076" y="1965960"/>
            <a:ext cx="34238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>
                <a:solidFill>
                  <a:srgbClr val="241E19"/>
                </a:solidFill>
                <a:latin typeface="Noto Serif KR"/>
                <a:ea typeface="Noto Serif KR"/>
                <a:cs typeface="Noto Serif KR"/>
              </a:rPr>
              <a:t>H5 좌우 대칭 경험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40967" y="2423160"/>
            <a:ext cx="9509760" cy="3459526"/>
          </a:xfrm>
          <a:prstGeom prst="rect">
            <a:avLst/>
          </a:prstGeom>
          <a:solidFill>
            <a:srgbClr val="FFFFFF"/>
          </a:solidFill>
          <a:ln w="9525">
            <a:solidFill>
              <a:srgbClr val="E9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2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119" y="2496312"/>
            <a:ext cx="9363456" cy="331322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40967" y="595583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그림 1.</a:t>
            </a:r>
            <a:r>
              <a:rPr sz="11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 변형별 처음 보는 지형 12종 평균 (docs/figures/r2_ladder.png)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10820095" cy="28575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05 · H1 · H2 —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spc="-30">
                <a:solidFill>
                  <a:srgbClr val="241E19"/>
                </a:solidFill>
                <a:latin typeface="Noto Serif KR"/>
                <a:ea typeface="Noto Serif KR"/>
                <a:cs typeface="Noto Serif KR"/>
              </a:rPr>
              <a:t>커리큘럼이 아니라 지형 비중, 자세 제약은 기각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E9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출처: results/summary_round2.md (최종 모델) · V6′·V10·V11은 seed 1개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9A8877"/>
                </a:solidFill>
                <a:latin typeface="JetBrains Mono"/>
                <a:ea typeface="Pretendard"/>
                <a:cs typeface="Pretendard"/>
              </a:rPr>
              <a:t>05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45920"/>
          <a:ext cx="6309360" cy="4114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02336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49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실험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41E1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549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12종 평균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41E19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baseline (평면)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16.3 (n=1)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V1 지형 무작위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44.4 ± 1.0 (n=2)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V2 난이도 차선 커리큘럼</a:t>
                      </a:r>
                    </a:p>
                  </a:txBody>
                  <a:tcPr marL="91440" marR="91440" marT="36576" marB="36576" anchor="ctr">
                    <a:solidFill>
                      <a:srgbClr val="F7E9E8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47.5 ± 0.6 (n=3)</a:t>
                      </a:r>
                    </a:p>
                  </a:txBody>
                  <a:tcPr marL="91440" marR="91440" marT="36576" marB="36576" anchor="ctr">
                    <a:solidFill>
                      <a:srgbClr val="F7E9E8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A-noPromo (승급·강등 제거)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46.8 ± 0.9 (n=2)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A-randDiff (난이도 정렬 제거)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47.9 ± 0.5 (n=2)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V6′ 자세 제약 종료 CaT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44.4 (n=1)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V10 외란 + 기울기 페널티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43.8 (n=1)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V11 레벨별 지면 마찰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37.5 (n=1)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Oval 8"/>
          <p:cNvSpPr/>
          <p:nvPr/>
        </p:nvSpPr>
        <p:spPr>
          <a:xfrm>
            <a:off x="7452360" y="1709928"/>
            <a:ext cx="100584" cy="100584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645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>
                <a:solidFill>
                  <a:srgbClr val="2F6B4F"/>
                </a:solidFill>
                <a:latin typeface="Pretendard"/>
                <a:ea typeface="Pretendard"/>
                <a:cs typeface="Pretendard"/>
              </a:rPr>
              <a:t>H1 경험 부족 — 지지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011680"/>
            <a:ext cx="40535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18000"/>
              </a:lnSpc>
              <a:spcAft>
                <a:spcPts val="700"/>
              </a:spcAft>
              <a:buClr>
                <a:srgbClr val="9A8877"/>
              </a:buClr>
              <a:buFont typeface="Arial"/>
              <a:buChar char="•"/>
            </a:pPr>
            <a:r>
              <a:rPr sz="16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지형을 경험시키면 16 → 47</a:t>
            </a:r>
          </a:p>
          <a:p>
            <a:pPr algn="l" marL="219456" indent="-219456">
              <a:lnSpc>
                <a:spcPct val="118000"/>
              </a:lnSpc>
              <a:spcAft>
                <a:spcPts val="700"/>
              </a:spcAft>
              <a:buClr>
                <a:srgbClr val="9A8877"/>
              </a:buClr>
              <a:buFont typeface="Arial"/>
              <a:buChar char="•"/>
            </a:pPr>
            <a:r>
              <a:rPr sz="16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커리큘럼을 빼도 그대로 → </a:t>
            </a:r>
            <a:r>
              <a:rPr sz="16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커리큘럼 효과 미미</a:t>
            </a:r>
          </a:p>
          <a:p>
            <a:pPr algn="l" marL="438912" indent="-219456">
              <a:lnSpc>
                <a:spcPct val="118000"/>
              </a:lnSpc>
              <a:spcAft>
                <a:spcPts val="700"/>
              </a:spcAft>
              <a:buClr>
                <a:srgbClr val="D8CDBF"/>
              </a:buClr>
              <a:buFont typeface="Arial"/>
              <a:buChar char="–"/>
            </a:pPr>
            <a:r>
              <a:rPr sz="1400" b="0">
                <a:solidFill>
                  <a:srgbClr val="55493F"/>
                </a:solidFill>
                <a:latin typeface="Pretendard"/>
                <a:ea typeface="Pretendard"/>
                <a:cs typeface="Pretendard"/>
              </a:rPr>
              <a:t>핵심은 어떤 지형을 얼마나 경험하느냐</a:t>
            </a:r>
          </a:p>
        </p:txBody>
      </p:sp>
      <p:sp>
        <p:nvSpPr>
          <p:cNvPr id="12" name="Oval 11"/>
          <p:cNvSpPr/>
          <p:nvPr/>
        </p:nvSpPr>
        <p:spPr>
          <a:xfrm>
            <a:off x="7452360" y="3630168"/>
            <a:ext cx="100584" cy="100584"/>
          </a:xfrm>
          <a:prstGeom prst="ellipse">
            <a:avLst/>
          </a:prstGeom>
          <a:solidFill>
            <a:srgbClr val="B4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356616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>
                <a:solidFill>
                  <a:srgbClr val="B4432F"/>
                </a:solidFill>
                <a:latin typeface="Pretendard"/>
                <a:ea typeface="Pretendard"/>
                <a:cs typeface="Pretendard"/>
              </a:rPr>
              <a:t>H2 자세 제약 부족 — 기각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931920"/>
            <a:ext cx="405353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18000"/>
              </a:lnSpc>
              <a:spcAft>
                <a:spcPts val="700"/>
              </a:spcAft>
              <a:buClr>
                <a:srgbClr val="9A8877"/>
              </a:buClr>
              <a:buFont typeface="Arial"/>
              <a:buChar char="•"/>
            </a:pPr>
            <a:r>
              <a:rPr sz="16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자세를 제약하거나 흔들어도 모두 V2 이하</a:t>
            </a:r>
          </a:p>
          <a:p>
            <a:pPr algn="l" marL="438912" indent="-219456">
              <a:lnSpc>
                <a:spcPct val="118000"/>
              </a:lnSpc>
              <a:spcAft>
                <a:spcPts val="700"/>
              </a:spcAft>
              <a:buClr>
                <a:srgbClr val="D8CDBF"/>
              </a:buClr>
              <a:buFont typeface="Arial"/>
              <a:buChar char="–"/>
            </a:pPr>
            <a:r>
              <a:rPr sz="1400" b="0">
                <a:solidFill>
                  <a:srgbClr val="55493F"/>
                </a:solidFill>
                <a:latin typeface="Pretendard"/>
                <a:ea typeface="Pretendard"/>
                <a:cs typeface="Pretendard"/>
              </a:rPr>
              <a:t>평지 낙상률 V2 66% → V6′ 70% · V10 63%</a:t>
            </a:r>
          </a:p>
          <a:p>
            <a:pPr algn="l" marL="438912" indent="-219456">
              <a:lnSpc>
                <a:spcPct val="118000"/>
              </a:lnSpc>
              <a:spcAft>
                <a:spcPts val="700"/>
              </a:spcAft>
              <a:buClr>
                <a:srgbClr val="D8CDBF"/>
              </a:buClr>
              <a:buFont typeface="Arial"/>
              <a:buChar char="–"/>
            </a:pPr>
            <a:r>
              <a:rPr sz="1400" b="0">
                <a:solidFill>
                  <a:srgbClr val="55493F"/>
                </a:solidFill>
                <a:latin typeface="Pretendard"/>
                <a:ea typeface="Pretendard"/>
                <a:cs typeface="Pretendard"/>
              </a:rPr>
              <a:t>조심시키면 덜 걸을 뿐, 뒤집힘은 줄지 않음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10820095" cy="28575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06 · H3 · H4 — 로봇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spc="-30">
                <a:solidFill>
                  <a:srgbClr val="241E19"/>
                </a:solidFill>
                <a:latin typeface="Noto Serif KR"/>
                <a:ea typeface="Noto Serif KR"/>
                <a:cs typeface="Noto Serif KR"/>
              </a:rPr>
              <a:t>로봇을 바꾸는 쪽이 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E9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출처: results/summary_round2.md (최종 모델)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9A8877"/>
                </a:solidFill>
                <a:latin typeface="JetBrains Mono"/>
                <a:ea typeface="Pretendard"/>
                <a:cs typeface="Pretendard"/>
              </a:rPr>
              <a:t>06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45920"/>
          <a:ext cx="6766560" cy="28529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72000"/>
                <a:gridCol w="21945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549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실험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41E1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549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12종 평균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41E19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V2 (대조군)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47.5 ± 0.6 (n=3)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V12 발 접촉 센서 + 히스토리 3 step + 정규화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53.1 ± 1.4 (n=2)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V14 발 외피 재질 μ0.4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56.0 ± 3.5 (n=2)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V1214 = V12 + V14</a:t>
                      </a:r>
                    </a:p>
                  </a:txBody>
                  <a:tcPr marL="91440" marR="91440" marT="36576" marB="36576" anchor="ctr">
                    <a:solidFill>
                      <a:srgbClr val="F7E9E8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74.7 ± 1.5 (n=3)</a:t>
                      </a:r>
                    </a:p>
                  </a:txBody>
                  <a:tcPr marL="91440" marR="91440" marT="36576" marB="36576" anchor="ctr">
                    <a:solidFill>
                      <a:srgbClr val="F7E9E8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V1214B = V1214 + 블록 70% 지형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88" b="1">
                          <a:solidFill>
                            <a:srgbClr val="7A2E2E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78.3 ± 2.1 (n=4)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Oval 8"/>
          <p:cNvSpPr/>
          <p:nvPr/>
        </p:nvSpPr>
        <p:spPr>
          <a:xfrm>
            <a:off x="7909560" y="1709928"/>
            <a:ext cx="100584" cy="100584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4152" y="1645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>
                <a:solidFill>
                  <a:srgbClr val="2F6B4F"/>
                </a:solidFill>
                <a:latin typeface="Pretendard"/>
                <a:ea typeface="Pretendard"/>
                <a:cs typeface="Pretendard"/>
              </a:rPr>
              <a:t>H3 감각 부족 — 지지</a:t>
            </a:r>
          </a:p>
        </p:txBody>
      </p:sp>
      <p:sp>
        <p:nvSpPr>
          <p:cNvPr id="11" name="Oval 10"/>
          <p:cNvSpPr/>
          <p:nvPr/>
        </p:nvSpPr>
        <p:spPr>
          <a:xfrm>
            <a:off x="7909560" y="2075688"/>
            <a:ext cx="100584" cy="100584"/>
          </a:xfrm>
          <a:prstGeom prst="ellipse">
            <a:avLst/>
          </a:prstGeom>
          <a:solidFill>
            <a:srgbClr val="A67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74152" y="201168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>
                <a:solidFill>
                  <a:srgbClr val="A6741B"/>
                </a:solidFill>
                <a:latin typeface="Pretendard"/>
                <a:ea typeface="Pretendard"/>
                <a:cs typeface="Pretendard"/>
              </a:rPr>
              <a:t>H4 접촉 물성 — 결합 시 지지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2514600"/>
            <a:ext cx="3596335" cy="1737360"/>
          </a:xfrm>
          <a:prstGeom prst="rect">
            <a:avLst/>
          </a:prstGeom>
          <a:solidFill>
            <a:srgbClr val="F7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2514600"/>
            <a:ext cx="31750" cy="173736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0728" y="2642616"/>
            <a:ext cx="3230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감각 × 물성 상호작용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8" y="2916936"/>
            <a:ext cx="32305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6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따로는 +5.6 / +8.5, 함께는 </a:t>
            </a:r>
            <a:r>
              <a:rPr sz="16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+27.2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5493F"/>
                </a:solidFill>
                <a:latin typeface="Pretendard"/>
                <a:ea typeface="Pretendard"/>
                <a:cs typeface="Pretendard"/>
              </a:rPr>
              <a:t>감각이 외피의 미끄러짐을 보정한다는 해석 (직접 검증은 안 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09160"/>
            <a:ext cx="108200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18000"/>
              </a:lnSpc>
              <a:spcAft>
                <a:spcPts val="700"/>
              </a:spcAft>
              <a:buClr>
                <a:srgbClr val="9A8877"/>
              </a:buClr>
              <a:buFont typeface="Arial"/>
              <a:buChar char="•"/>
            </a:pPr>
            <a:r>
              <a:rPr sz="16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감각 분해 (V1214 기준, n=1): 히스토리 제거 68.5 · LSTM으로 대체 67.1 → </a:t>
            </a:r>
            <a:r>
              <a:rPr sz="16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짧은 기억 + MLP</a:t>
            </a:r>
            <a:r>
              <a:rPr sz="16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가 최선</a:t>
            </a:r>
          </a:p>
          <a:p>
            <a:pPr algn="l" marL="219456" indent="-219456">
              <a:lnSpc>
                <a:spcPct val="118000"/>
              </a:lnSpc>
              <a:spcAft>
                <a:spcPts val="700"/>
              </a:spcAft>
              <a:buClr>
                <a:srgbClr val="9A8877"/>
              </a:buClr>
              <a:buFont typeface="Arial"/>
              <a:buChar char="•"/>
            </a:pPr>
            <a:r>
              <a:rPr sz="16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환경 쪽 변경(40점대)보다 </a:t>
            </a:r>
            <a:r>
              <a:rPr sz="16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로봇 쪽 변경(70점대)</a:t>
            </a:r>
            <a:r>
              <a:rPr sz="16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 이 컸다</a:t>
            </a:r>
          </a:p>
          <a:p>
            <a:pPr algn="l" marL="438912" indent="-219456">
              <a:lnSpc>
                <a:spcPct val="118000"/>
              </a:lnSpc>
              <a:spcAft>
                <a:spcPts val="700"/>
              </a:spcAft>
              <a:buClr>
                <a:srgbClr val="D8CDBF"/>
              </a:buClr>
              <a:buFont typeface="Arial"/>
              <a:buChar char="–"/>
            </a:pPr>
            <a:r>
              <a:rPr sz="1400" b="0">
                <a:solidFill>
                  <a:srgbClr val="55493F"/>
                </a:solidFill>
                <a:latin typeface="Pretendard"/>
                <a:ea typeface="Pretendard"/>
                <a:cs typeface="Pretendard"/>
              </a:rPr>
              <a:t>V12·V14·V1214는 V2 지형, V1214B만 블록 70% 지형 · 외피는 Python cfg만 수정 (물성치 변경 허용 공지)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10820095" cy="28575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07 · H4 — 외피 마찰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spc="-30">
                <a:solidFill>
                  <a:srgbClr val="241E19"/>
                </a:solidFill>
                <a:latin typeface="Noto Serif KR"/>
                <a:ea typeface="Noto Serif KR"/>
                <a:cs typeface="Noto Serif KR"/>
              </a:rPr>
              <a:t>마찰에는 내부 최적이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E9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출처: results/summary_round2.md, docs/log_1003.md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9A8877"/>
                </a:solidFill>
                <a:latin typeface="JetBrains Mono"/>
                <a:ea typeface="Pretendard"/>
                <a:cs typeface="Pretendard"/>
              </a:rPr>
              <a:t>07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5760720" cy="3601329"/>
          </a:xfrm>
          <a:prstGeom prst="rect">
            <a:avLst/>
          </a:prstGeom>
          <a:solidFill>
            <a:srgbClr val="FFFFFF"/>
          </a:solidFill>
          <a:ln w="9525">
            <a:solidFill>
              <a:srgbClr val="E9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2_mu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19072"/>
            <a:ext cx="5614416" cy="3455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320401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그림 2.</a:t>
            </a:r>
            <a:r>
              <a:rPr sz="11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 외피 마찰 sweep, V1214R 위 (docs/figures/r2_mu_sweep.png)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903720" y="1645920"/>
          <a:ext cx="4602174" cy="19202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53318"/>
                <a:gridCol w="3148856"/>
              </a:tblGrid>
              <a:tr h="384048"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549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외피 μ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41E1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5549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12종 평균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41E19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0.2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71.5 (n=1)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0.3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88" b="1">
                          <a:solidFill>
                            <a:srgbClr val="7A2E2E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73.6 ± 3.6 (n=3)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0.4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71.7 ± 7.2 (n=3)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0.6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88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67.7 (n=1)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903720" y="3657600"/>
            <a:ext cx="4602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5493F"/>
                </a:solidFill>
                <a:latin typeface="Pretendard"/>
                <a:ea typeface="Pretendard"/>
                <a:cs typeface="Pretendard"/>
              </a:rPr>
              <a:t>높으면 걸려 뒤집히고, 낮으면 미끄러진다 (예측과 일치)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4206240"/>
            <a:ext cx="4602175" cy="1783080"/>
          </a:xfrm>
          <a:prstGeom prst="rect">
            <a:avLst/>
          </a:prstGeom>
          <a:solidFill>
            <a:srgbClr val="F6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4206240"/>
            <a:ext cx="31750" cy="1783080"/>
          </a:xfrm>
          <a:prstGeom prst="rect">
            <a:avLst/>
          </a:prstGeom>
          <a:solidFill>
            <a:srgbClr val="A67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4888" y="4334256"/>
            <a:ext cx="4236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A6741B"/>
                </a:solidFill>
                <a:latin typeface="Pretendard"/>
                <a:ea typeface="Pretendard"/>
                <a:cs typeface="Pretendard"/>
              </a:rPr>
              <a:t>결론 철회 사례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4608576"/>
            <a:ext cx="4236415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seed 1개로 "μ0.4가 μ0.3보다 낫다" (79.4 vs 73.7, V1214B)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3 seed: 78.3 ± 2.5 = 78.3 ± 4.2 → </a:t>
            </a:r>
            <a:r>
              <a:rPr sz="14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철회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5493F"/>
                </a:solidFill>
                <a:latin typeface="Pretendard"/>
                <a:ea typeface="Pretendard"/>
                <a:cs typeface="Pretendard"/>
              </a:rPr>
              <a:t>이후 결론은 seed 3개 이상에서만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10820095" cy="28575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08 · H5 — 좌우 대칭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spc="-30">
                <a:solidFill>
                  <a:srgbClr val="241E19"/>
                </a:solidFill>
                <a:latin typeface="Noto Serif KR"/>
                <a:ea typeface="Noto Serif KR"/>
                <a:cs typeface="Noto Serif KR"/>
              </a:rPr>
              <a:t>거울 경험으로 +12.9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E9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코드: source/ant_rough/ant_rough/tasks/symmetry.py, scripts/check_symmetry.py · Mittal et al., ICRA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9A8877"/>
                </a:solidFill>
                <a:latin typeface="JetBrains Mono"/>
                <a:ea typeface="Pretendard"/>
                <a:cs typeface="Pretendard"/>
              </a:rPr>
              <a:t>08 / 12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45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500" b="1">
                <a:solidFill>
                  <a:srgbClr val="2F6B4F"/>
                </a:solidFill>
                <a:latin typeface="Pretendard"/>
                <a:ea typeface="Pretendard"/>
                <a:cs typeface="Pretendard"/>
              </a:rPr>
              <a:t>H5 좌우 대칭 경험 — 지지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2194560" cy="19050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12848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7A2E2E"/>
                </a:solidFill>
                <a:latin typeface="JetBrains Mono"/>
                <a:ea typeface="Pretendard"/>
                <a:cs typeface="Pretendard"/>
              </a:rPr>
              <a:t>91.2 ± 2.8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V8 (n=4)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2103120"/>
            <a:ext cx="2194560" cy="19050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2212848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241E19"/>
                </a:solidFill>
                <a:latin typeface="JetBrains Mono"/>
                <a:ea typeface="Pretendard"/>
                <a:cs typeface="Pretendard"/>
              </a:rPr>
              <a:t>78.3 ± 2.1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7432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V1214B 대조군 (n=4)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46120"/>
            <a:ext cx="4663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18000"/>
              </a:lnSpc>
              <a:spcAft>
                <a:spcPts val="600"/>
              </a:spcAft>
              <a:buClr>
                <a:srgbClr val="9A8877"/>
              </a:buClr>
              <a:buFont typeface="Arial"/>
              <a:buChar char="•"/>
            </a:pPr>
            <a:r>
              <a:rPr sz="15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PPO 업데이트 때 상태·행동을 </a:t>
            </a:r>
            <a:r>
              <a:rPr sz="15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좌우 거울로 뒤집어 추가</a:t>
            </a:r>
            <a:r>
              <a:rPr sz="15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 — rollout 1번으로 2배 경험, 파라미터 추가 없음</a:t>
            </a:r>
          </a:p>
          <a:p>
            <a:pPr algn="l" marL="219456" indent="-219456">
              <a:lnSpc>
                <a:spcPct val="118000"/>
              </a:lnSpc>
              <a:spcAft>
                <a:spcPts val="600"/>
              </a:spcAft>
              <a:buClr>
                <a:srgbClr val="9A8877"/>
              </a:buClr>
              <a:buFont typeface="Arial"/>
              <a:buChar char="•"/>
            </a:pPr>
            <a:r>
              <a:rPr sz="15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4 seed 모두 V1214B 최고 seed보다 높음</a:t>
            </a:r>
          </a:p>
          <a:p>
            <a:pPr algn="l" marL="219456" indent="-219456">
              <a:lnSpc>
                <a:spcPct val="118000"/>
              </a:lnSpc>
              <a:spcAft>
                <a:spcPts val="600"/>
              </a:spcAft>
              <a:buClr>
                <a:srgbClr val="9A8877"/>
              </a:buClr>
              <a:buFont typeface="Arial"/>
              <a:buChar char="•"/>
            </a:pPr>
            <a:r>
              <a:rPr sz="15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거울 맵을 </a:t>
            </a:r>
            <a:r>
              <a:rPr sz="15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시뮬레이션에서 검증</a:t>
            </a:r>
            <a:r>
              <a:rPr sz="15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: 거울 상태 쌍을 같이 굴려 비교 (240쌍, 상관 +0.81~1.00)</a:t>
            </a:r>
          </a:p>
          <a:p>
            <a:pPr algn="l" marL="219456" indent="-219456">
              <a:lnSpc>
                <a:spcPct val="118000"/>
              </a:lnSpc>
              <a:spcAft>
                <a:spcPts val="600"/>
              </a:spcAft>
              <a:buClr>
                <a:srgbClr val="9A8877"/>
              </a:buClr>
              <a:buFont typeface="Arial"/>
              <a:buChar char="•"/>
            </a:pPr>
            <a:r>
              <a:rPr sz="15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발 반력 부호는 손 유도 실패 → </a:t>
            </a:r>
            <a:r>
              <a:rPr sz="15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상관으로 측정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645920"/>
            <a:ext cx="5745175" cy="3204148"/>
          </a:xfrm>
          <a:prstGeom prst="rect">
            <a:avLst/>
          </a:prstGeom>
          <a:solidFill>
            <a:srgbClr val="FFFFFF"/>
          </a:solidFill>
          <a:ln w="9525">
            <a:solidFill>
              <a:srgbClr val="E9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2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719072"/>
            <a:ext cx="5598871" cy="305784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60720" y="4923220"/>
            <a:ext cx="5745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그림 3.</a:t>
            </a:r>
            <a:r>
              <a:rPr sz="11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 지형별 reward — 맨 아래 V8 행이 거의 모든 지형에서 가장 높음 (r2_heatmap.png)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10820095" cy="28575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09 · H5 — 어블레이션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spc="-30">
                <a:solidFill>
                  <a:srgbClr val="241E19"/>
                </a:solidFill>
                <a:latin typeface="Noto Serif KR"/>
                <a:ea typeface="Noto Serif KR"/>
                <a:cs typeface="Noto Serif KR"/>
              </a:rPr>
              <a:t>이득은 어디서 오는가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E9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출처: results/summary_round2.md, docs/log_1004.md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9A8877"/>
                </a:solidFill>
                <a:latin typeface="JetBrains Mono"/>
                <a:ea typeface="Pretendard"/>
                <a:cs typeface="Pretendard"/>
              </a:rPr>
              <a:t>09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45920"/>
          <a:ext cx="10820093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590382"/>
                <a:gridCol w="2885358"/>
                <a:gridCol w="2344353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549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실험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41E1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549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12종 평균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41E1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549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대조군 대비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41E19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V1214B (대조군)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72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78.3 ± 2.1 (n=4)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V8 거울 데이터 증강</a:t>
                      </a:r>
                    </a:p>
                  </a:txBody>
                  <a:tcPr marL="91440" marR="91440" marT="36576" marB="36576" anchor="ctr">
                    <a:solidFill>
                      <a:srgbClr val="F7E9E8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72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91.2 ± 2.8 (n=4)</a:t>
                      </a:r>
                    </a:p>
                  </a:txBody>
                  <a:tcPr marL="91440" marR="91440" marT="36576" marB="36576" anchor="ctr">
                    <a:solidFill>
                      <a:srgbClr val="F7E9E8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72" b="1">
                          <a:solidFill>
                            <a:srgbClr val="7A2E2E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+12.9</a:t>
                      </a:r>
                    </a:p>
                  </a:txBody>
                  <a:tcPr marL="91440" marR="91440" marT="36576" marB="36576" anchor="ctr">
                    <a:solidFill>
                      <a:srgbClr val="F7E9E8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V8-ML "대칭으로 행동하라" 손실만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72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77.9 ± 1.1 (n=2)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72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−0.4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V2Sym 기본 로봇 + 증강 (대조군 V2 47.5)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72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50.2 ± 2.7 (n=3)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72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+2.7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85800" y="4526280"/>
            <a:ext cx="5181447" cy="1463040"/>
          </a:xfrm>
          <a:prstGeom prst="rect">
            <a:avLst/>
          </a:prstGeom>
          <a:solidFill>
            <a:srgbClr val="F7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4526280"/>
            <a:ext cx="31750" cy="146304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4654296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대칭 강제 vs 거울 경험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928616"/>
            <a:ext cx="48156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손실만으로는 효과 없음 → 이득은 </a:t>
            </a:r>
            <a:r>
              <a:rPr sz="15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거울 데이터(경험)</a:t>
            </a:r>
            <a:r>
              <a:rPr sz="15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 에서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4447" y="4526280"/>
            <a:ext cx="5181447" cy="1463040"/>
          </a:xfrm>
          <a:prstGeom prst="rect">
            <a:avLst/>
          </a:prstGeom>
          <a:solidFill>
            <a:srgbClr val="F6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4447" y="4526280"/>
            <a:ext cx="31750" cy="1463040"/>
          </a:xfrm>
          <a:prstGeom prst="rect">
            <a:avLst/>
          </a:prstGeom>
          <a:solidFill>
            <a:srgbClr val="A67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5615" y="4654296"/>
            <a:ext cx="4815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A6741B"/>
                </a:solidFill>
                <a:latin typeface="Pretendard"/>
                <a:ea typeface="Pretendard"/>
                <a:cs typeface="Pretendard"/>
              </a:rPr>
              <a:t>로봇 변경과의 상호작용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5615" y="4928616"/>
            <a:ext cx="481568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기본 로봇에서는 +2.7뿐 → </a:t>
            </a:r>
            <a:r>
              <a:rPr sz="15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감각·물성 변경 위에서만 크게 작동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00" b="0">
                <a:solidFill>
                  <a:srgbClr val="55493F"/>
                </a:solidFill>
                <a:latin typeface="Pretendard"/>
                <a:ea typeface="Pretendard"/>
                <a:cs typeface="Pretendard"/>
              </a:rPr>
              <a:t>해석 단계 (직접 검증은 안 함)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10820095" cy="28575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10 · 최종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spc="-30">
                <a:solidFill>
                  <a:srgbClr val="241E19"/>
                </a:solidFill>
                <a:latin typeface="Noto Serif KR"/>
                <a:ea typeface="Noto Serif KR"/>
                <a:cs typeface="Noto Serif KR"/>
              </a:rPr>
              <a:t>잠금 테스트에서도 같은 순서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E9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출처: docs/report_material.md 6절, results/official_test.csv · 지형 밖 점검은 eval 스크립트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9A8877"/>
                </a:solidFill>
                <a:latin typeface="JetBrains Mono"/>
                <a:ea typeface="Pretendard"/>
                <a:cs typeface="Pretendard"/>
              </a:rPr>
              <a:t>10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3423818" cy="19050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342381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241E19"/>
                </a:solidFill>
                <a:latin typeface="JetBrains Mono"/>
                <a:ea typeface="Pretendard"/>
                <a:cs typeface="Pretendard"/>
              </a:rPr>
              <a:t>v8_s44@2999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3423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최종 모델 · 선택용 held-out 1위 111.5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3938" y="1600200"/>
            <a:ext cx="3423818" cy="19050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3938" y="1709928"/>
            <a:ext cx="342381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241E19"/>
                </a:solidFill>
                <a:latin typeface="JetBrains Mono"/>
                <a:ea typeface="Pretendard"/>
                <a:cs typeface="Pretendard"/>
              </a:rPr>
              <a:t>174.73 ± 12.67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3938" y="2240280"/>
            <a:ext cx="3423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제출 태스크 공식 평면 (baseline 134.90)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2076" y="1600200"/>
            <a:ext cx="3423818" cy="19050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2076" y="1709928"/>
            <a:ext cx="342381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7A2E2E"/>
                </a:solidFill>
                <a:latin typeface="JetBrains Mono"/>
                <a:ea typeface="Pretendard"/>
                <a:cs typeface="Pretendard"/>
              </a:rPr>
              <a:t>113.65 ± 29.03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2076" y="2240280"/>
            <a:ext cx="34238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잠금 테스트 UnseenMix (공식 조건, 1회)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2788920"/>
          <a:ext cx="10820093" cy="2057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89308"/>
                <a:gridCol w="2596822"/>
                <a:gridCol w="2510262"/>
                <a:gridCol w="2423701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549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잠금 테스트 UnseenMix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41E1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549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반영 가설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41E1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549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reward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41E1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5493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평균 step (960 = 완주)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41E19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baseline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80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9.51 ± 7.52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80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761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V2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H1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80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46.70 ± 30.17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80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863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V1214B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H1 + H3 + H4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80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100.19 ± 22.11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80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946</a:t>
                      </a:r>
                    </a:p>
                  </a:txBody>
                  <a:tcPr marL="91440" marR="91440" marT="36576" marB="36576" anchor="ctr">
                    <a:noFill/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V8 (최종)</a:t>
                      </a:r>
                    </a:p>
                  </a:txBody>
                  <a:tcPr marL="91440" marR="91440" marT="36576" marB="36576" anchor="ctr">
                    <a:solidFill>
                      <a:srgbClr val="F7E9E8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41E19"/>
                          </a:solidFill>
                          <a:latin typeface="Pretendard"/>
                          <a:ea typeface="Pretendard"/>
                          <a:cs typeface="Pretendard"/>
                        </a:rPr>
                        <a:t>+ H5</a:t>
                      </a:r>
                    </a:p>
                  </a:txBody>
                  <a:tcPr marL="91440" marR="91440" marT="36576" marB="36576" anchor="ctr">
                    <a:solidFill>
                      <a:srgbClr val="F7E9E8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80" b="1">
                          <a:solidFill>
                            <a:srgbClr val="7A2E2E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113.65 ± 29.03</a:t>
                      </a:r>
                    </a:p>
                  </a:txBody>
                  <a:tcPr marL="91440" marR="91440" marT="36576" marB="36576" anchor="ctr">
                    <a:solidFill>
                      <a:srgbClr val="F7E9E8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80" b="0">
                          <a:solidFill>
                            <a:srgbClr val="241E19"/>
                          </a:solidFill>
                          <a:latin typeface="JetBrains Mono"/>
                          <a:ea typeface="Pretendard"/>
                          <a:cs typeface="Pretendard"/>
                        </a:rPr>
                        <a:t>938</a:t>
                      </a:r>
                    </a:p>
                  </a:txBody>
                  <a:tcPr marL="91440" marR="91440" marT="36576" marB="36576" anchor="ctr">
                    <a:solidFill>
                      <a:srgbClr val="F7E9E8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9E1D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85800" y="5029200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18000"/>
              </a:lnSpc>
              <a:spcAft>
                <a:spcPts val="500"/>
              </a:spcAft>
              <a:buClr>
                <a:srgbClr val="9A8877"/>
              </a:buClr>
              <a:buFont typeface="Arial"/>
              <a:buChar char="•"/>
            </a:pPr>
            <a:r>
              <a:rPr sz="15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자체 평가 순서가 처음 보는 잠금 테스트에서도 그대로 · 대칭 효과 +12.9 (자체) ↔ +13.5 (잠금)</a:t>
            </a:r>
          </a:p>
          <a:p>
            <a:pPr algn="l" marL="219456" indent="-219456">
              <a:lnSpc>
                <a:spcPct val="118000"/>
              </a:lnSpc>
              <a:spcAft>
                <a:spcPts val="500"/>
              </a:spcAft>
              <a:buClr>
                <a:srgbClr val="9A8877"/>
              </a:buClr>
              <a:buFont typeface="Arial"/>
              <a:buChar char="•"/>
            </a:pPr>
            <a:r>
              <a:rPr sz="15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타당성 점검: 약 27%가 평가 지형 밖으로 나감 → 지형 안 로봇만 비교해도 순서 그대로 (9.1 &lt; 42.6 &lt; 87.8 &lt; 104.6)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10820095" cy="28575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11 · 영상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spc="-30">
                <a:solidFill>
                  <a:srgbClr val="241E19"/>
                </a:solidFill>
                <a:latin typeface="Noto Serif KR"/>
                <a:ea typeface="Noto Serif KR"/>
                <a:cs typeface="Noto Serif KR"/>
              </a:rPr>
              <a:t>최종 모델이 걷는 모습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E9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56558"/>
                </a:solidFill>
                <a:latin typeface="Pretendard"/>
                <a:ea typeface="Pretendard"/>
                <a:cs typeface="Pretendard"/>
              </a:rPr>
              <a:t>docs/media/ (git 미포함, 워크스테이션) · 1280×720 · 960 step = 완주 · 목록 docs/media/videos.csv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9A8877"/>
                </a:solidFill>
                <a:latin typeface="JetBrains Mono"/>
                <a:ea typeface="Pretendard"/>
                <a:cs typeface="Pretendard"/>
              </a:rPr>
              <a:t>11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2533573" cy="2229807"/>
          </a:xfrm>
          <a:prstGeom prst="rect">
            <a:avLst/>
          </a:prstGeom>
          <a:solidFill>
            <a:srgbClr val="FFFFFF"/>
          </a:solidFill>
          <a:ln w="9525">
            <a:solidFill>
              <a:srgbClr val="E9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54480"/>
            <a:ext cx="2533573" cy="1425135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9A8877"/>
                </a:solidFill>
                <a:latin typeface="Pretendard"/>
                <a:ea typeface="Pretendard"/>
                <a:cs typeface="Pretendard"/>
              </a:rPr>
              <a:t>영상 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052767"/>
            <a:ext cx="231411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평면 (제출 태스크)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2E5163"/>
                </a:solidFill>
                <a:latin typeface="JetBrains Mono"/>
                <a:ea typeface="Pretendard"/>
                <a:cs typeface="Pretendard"/>
              </a:rPr>
              <a:t>final_plane.mp4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56558"/>
                </a:solidFill>
                <a:latin typeface="JetBrains Mono"/>
                <a:ea typeface="Pretendard"/>
                <a:cs typeface="Pretendard"/>
              </a:rPr>
              <a:t>reward 180.5 · 960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973" y="1554480"/>
            <a:ext cx="2533573" cy="2229807"/>
          </a:xfrm>
          <a:prstGeom prst="rect">
            <a:avLst/>
          </a:prstGeom>
          <a:solidFill>
            <a:srgbClr val="FFFFFF"/>
          </a:solidFill>
          <a:ln w="9525">
            <a:solidFill>
              <a:srgbClr val="E9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7973" y="1554480"/>
            <a:ext cx="2533573" cy="1425135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9A8877"/>
                </a:solidFill>
                <a:latin typeface="Pretendard"/>
                <a:ea typeface="Pretendard"/>
                <a:cs typeface="Pretendard"/>
              </a:rPr>
              <a:t>영상 자리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701" y="3052767"/>
            <a:ext cx="231411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평지 (메시)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2E5163"/>
                </a:solidFill>
                <a:latin typeface="JetBrains Mono"/>
                <a:ea typeface="Pretendard"/>
                <a:cs typeface="Pretendard"/>
              </a:rPr>
              <a:t>final_flat.mp4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56558"/>
                </a:solidFill>
                <a:latin typeface="JetBrains Mono"/>
                <a:ea typeface="Pretendard"/>
                <a:cs typeface="Pretendard"/>
              </a:rPr>
              <a:t>reward 144.0 · 960 step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554480"/>
            <a:ext cx="2533573" cy="2229807"/>
          </a:xfrm>
          <a:prstGeom prst="rect">
            <a:avLst/>
          </a:prstGeom>
          <a:solidFill>
            <a:srgbClr val="FFFFFF"/>
          </a:solidFill>
          <a:ln w="9525">
            <a:solidFill>
              <a:srgbClr val="E9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1554480"/>
            <a:ext cx="2533573" cy="1425135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9A8877"/>
                </a:solidFill>
                <a:latin typeface="Pretendard"/>
                <a:ea typeface="Pretendard"/>
                <a:cs typeface="Pretendard"/>
              </a:rPr>
              <a:t>영상 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9875" y="3052767"/>
            <a:ext cx="231411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레일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2E5163"/>
                </a:solidFill>
                <a:latin typeface="JetBrains Mono"/>
                <a:ea typeface="Pretendard"/>
                <a:cs typeface="Pretendard"/>
              </a:rPr>
              <a:t>final_rails.mp4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56558"/>
                </a:solidFill>
                <a:latin typeface="JetBrains Mono"/>
                <a:ea typeface="Pretendard"/>
                <a:cs typeface="Pretendard"/>
              </a:rPr>
              <a:t>reward 137.9 · 960 step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72321" y="1554480"/>
            <a:ext cx="2533573" cy="2229807"/>
          </a:xfrm>
          <a:prstGeom prst="rect">
            <a:avLst/>
          </a:prstGeom>
          <a:solidFill>
            <a:srgbClr val="FFFFFF"/>
          </a:solidFill>
          <a:ln w="9525">
            <a:solidFill>
              <a:srgbClr val="E9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72321" y="1554480"/>
            <a:ext cx="2533573" cy="1425135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9A8877"/>
                </a:solidFill>
                <a:latin typeface="Pretendard"/>
                <a:ea typeface="Pretendard"/>
                <a:cs typeface="Pretendard"/>
              </a:rPr>
              <a:t>영상 자리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2049" y="3052767"/>
            <a:ext cx="231411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블록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2E5163"/>
                </a:solidFill>
                <a:latin typeface="JetBrains Mono"/>
                <a:ea typeface="Pretendard"/>
                <a:cs typeface="Pretendard"/>
              </a:rPr>
              <a:t>final_grid.mp4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56558"/>
                </a:solidFill>
                <a:latin typeface="JetBrains Mono"/>
                <a:ea typeface="Pretendard"/>
                <a:cs typeface="Pretendard"/>
              </a:rPr>
              <a:t>reward 125.4 · 960 step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939735"/>
            <a:ext cx="2533573" cy="2229807"/>
          </a:xfrm>
          <a:prstGeom prst="rect">
            <a:avLst/>
          </a:prstGeom>
          <a:solidFill>
            <a:srgbClr val="FFFFFF"/>
          </a:solidFill>
          <a:ln w="9525">
            <a:solidFill>
              <a:srgbClr val="E9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939735"/>
            <a:ext cx="2533573" cy="1425135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9A8877"/>
                </a:solidFill>
                <a:latin typeface="Pretendard"/>
                <a:ea typeface="Pretendard"/>
                <a:cs typeface="Pretendard"/>
              </a:rPr>
              <a:t>영상 자리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5438022"/>
            <a:ext cx="231411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피라미드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2E5163"/>
                </a:solidFill>
                <a:latin typeface="JetBrains Mono"/>
                <a:ea typeface="Pretendard"/>
                <a:cs typeface="Pretendard"/>
              </a:rPr>
              <a:t>final_pyramids.mp4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56558"/>
                </a:solidFill>
                <a:latin typeface="JetBrains Mono"/>
                <a:ea typeface="Pretendard"/>
                <a:cs typeface="Pretendard"/>
              </a:rPr>
              <a:t>reward 105.8 · 960 step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47973" y="3939735"/>
            <a:ext cx="2533573" cy="2229807"/>
          </a:xfrm>
          <a:prstGeom prst="rect">
            <a:avLst/>
          </a:prstGeom>
          <a:solidFill>
            <a:srgbClr val="FFFFFF"/>
          </a:solidFill>
          <a:ln w="9525">
            <a:solidFill>
              <a:srgbClr val="E9E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47973" y="3939735"/>
            <a:ext cx="2533573" cy="1425135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9A8877"/>
                </a:solidFill>
                <a:latin typeface="Pretendard"/>
                <a:ea typeface="Pretendard"/>
                <a:cs typeface="Pretendard"/>
              </a:rPr>
              <a:t>영상 자리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701" y="5438022"/>
            <a:ext cx="231411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계단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2E5163"/>
                </a:solidFill>
                <a:latin typeface="JetBrains Mono"/>
                <a:ea typeface="Pretendard"/>
                <a:cs typeface="Pretendard"/>
              </a:rPr>
              <a:t>final_stairs.mp4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56558"/>
                </a:solidFill>
                <a:latin typeface="JetBrains Mono"/>
                <a:ea typeface="Pretendard"/>
                <a:cs typeface="Pretendard"/>
              </a:rPr>
              <a:t>reward 101.9 · 960 step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0147" y="3939735"/>
            <a:ext cx="2533573" cy="2229807"/>
          </a:xfrm>
          <a:prstGeom prst="rect">
            <a:avLst/>
          </a:prstGeom>
          <a:solidFill>
            <a:srgbClr val="FFFFFF"/>
          </a:solidFill>
          <a:ln w="9525">
            <a:solidFill>
              <a:srgbClr val="B44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0147" y="3939735"/>
            <a:ext cx="2533573" cy="1425135"/>
          </a:xfrm>
          <a:prstGeom prst="rect">
            <a:avLst/>
          </a:prstGeom>
          <a:solidFill>
            <a:srgbClr val="241E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9A8877"/>
                </a:solidFill>
                <a:latin typeface="Pretendard"/>
                <a:ea typeface="Pretendard"/>
                <a:cs typeface="Pretendard"/>
              </a:rPr>
              <a:t>영상 자리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9875" y="5438022"/>
            <a:ext cx="231411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>
                <a:solidFill>
                  <a:srgbClr val="B4432F"/>
                </a:solidFill>
                <a:latin typeface="Pretendard"/>
                <a:ea typeface="Pretendard"/>
                <a:cs typeface="Pretendard"/>
              </a:rPr>
              <a:t>평지 seed 27 — 뒤집힘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2E5163"/>
                </a:solidFill>
                <a:latin typeface="JetBrains Mono"/>
                <a:ea typeface="Pretendard"/>
                <a:cs typeface="Pretendard"/>
              </a:rPr>
              <a:t>final_flat_fail.mp4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756558"/>
                </a:solidFill>
                <a:latin typeface="JetBrains Mono"/>
                <a:ea typeface="Pretendard"/>
                <a:cs typeface="Pretendard"/>
              </a:rPr>
              <a:t>reward 100.7 · 713 step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10820095" cy="28575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12 ·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700" b="1" spc="-30">
                <a:solidFill>
                  <a:srgbClr val="241E19"/>
                </a:solidFill>
                <a:latin typeface="Noto Serif KR"/>
                <a:ea typeface="Noto Serif KR"/>
                <a:cs typeface="Noto Serif KR"/>
              </a:rPr>
              <a:t>한계와 배운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55080"/>
            <a:ext cx="10820095" cy="9525"/>
          </a:xfrm>
          <a:prstGeom prst="rect">
            <a:avLst/>
          </a:prstGeom>
          <a:solidFill>
            <a:srgbClr val="E9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9A8877"/>
                </a:solidFill>
                <a:latin typeface="JetBrains Mono"/>
                <a:ea typeface="Pretendard"/>
                <a:cs typeface="Pretendard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82009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lnSpc>
                <a:spcPct val="118000"/>
              </a:lnSpc>
              <a:spcAft>
                <a:spcPts val="800"/>
              </a:spcAft>
              <a:buClr>
                <a:srgbClr val="9A8877"/>
              </a:buClr>
              <a:buFont typeface="Arial"/>
              <a:buChar char="•"/>
            </a:pPr>
            <a:r>
              <a:rPr sz="1700" b="1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뒤집힘 자체는 남았다</a:t>
            </a:r>
            <a:r>
              <a:rPr sz="17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: 평지 낙상률 V2 66.3% / V8 65.8%</a:t>
            </a:r>
          </a:p>
          <a:p>
            <a:pPr algn="l" marL="438912" indent="-219456">
              <a:lnSpc>
                <a:spcPct val="118000"/>
              </a:lnSpc>
              <a:spcAft>
                <a:spcPts val="800"/>
              </a:spcAft>
              <a:buClr>
                <a:srgbClr val="D8CDBF"/>
              </a:buClr>
              <a:buFont typeface="Arial"/>
              <a:buChar char="–"/>
            </a:pPr>
            <a:r>
              <a:rPr sz="1500" b="0">
                <a:solidFill>
                  <a:srgbClr val="55493F"/>
                </a:solidFill>
                <a:latin typeface="Pretendard"/>
                <a:ea typeface="Pretendard"/>
                <a:cs typeface="Pretendard"/>
              </a:rPr>
              <a:t>향상은 넘어지기 전까지 더 멀리 걷는 데서 왔다 → 다음 연구 문제</a:t>
            </a:r>
          </a:p>
          <a:p>
            <a:pPr algn="l" marL="219456" indent="-219456">
              <a:lnSpc>
                <a:spcPct val="118000"/>
              </a:lnSpc>
              <a:spcAft>
                <a:spcPts val="800"/>
              </a:spcAft>
              <a:buClr>
                <a:srgbClr val="9A8877"/>
              </a:buClr>
              <a:buFont typeface="Arial"/>
              <a:buChar char="•"/>
            </a:pPr>
            <a:r>
              <a:rPr sz="17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평가 지형 폭(32 m)이 빠른 정책에는 좁다: 약 27% 이탈 → 결론은 같지만 넓은 지형 재평가는 못 함</a:t>
            </a:r>
          </a:p>
          <a:p>
            <a:pPr algn="l" marL="219456" indent="-219456">
              <a:lnSpc>
                <a:spcPct val="118000"/>
              </a:lnSpc>
              <a:spcAft>
                <a:spcPts val="800"/>
              </a:spcAft>
              <a:buClr>
                <a:srgbClr val="9A8877"/>
              </a:buClr>
              <a:buFont typeface="Arial"/>
              <a:buChar char="•"/>
            </a:pPr>
            <a:r>
              <a:rPr sz="17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높이 스캔(RayCaster) 미사용: 정적 메시 1개만 지원 → 조교 지형이 박스 prim이면 에러</a:t>
            </a:r>
          </a:p>
          <a:p>
            <a:pPr algn="l" marL="438912" indent="-219456">
              <a:lnSpc>
                <a:spcPct val="118000"/>
              </a:lnSpc>
              <a:spcAft>
                <a:spcPts val="800"/>
              </a:spcAft>
              <a:buClr>
                <a:srgbClr val="D8CDBF"/>
              </a:buClr>
              <a:buFont typeface="Arial"/>
              <a:buChar char="–"/>
            </a:pPr>
            <a:r>
              <a:rPr sz="1500" b="0">
                <a:solidFill>
                  <a:srgbClr val="55493F"/>
                </a:solidFill>
                <a:latin typeface="Pretendard"/>
                <a:ea typeface="Pretendard"/>
                <a:cs typeface="Pretendard"/>
              </a:rPr>
              <a:t>지형과 무관한 발 접촉 센서 + 히스토리로 대체</a:t>
            </a:r>
          </a:p>
          <a:p>
            <a:pPr algn="l" marL="219456" indent="-219456">
              <a:lnSpc>
                <a:spcPct val="118000"/>
              </a:lnSpc>
              <a:spcAft>
                <a:spcPts val="800"/>
              </a:spcAft>
              <a:buClr>
                <a:srgbClr val="9A8877"/>
              </a:buClr>
              <a:buFont typeface="Arial"/>
              <a:buChar char="•"/>
            </a:pPr>
            <a:r>
              <a:rPr sz="17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seed 1개 결론은 뒤집힐 수 있다 (μ 철회) → 결론은 seed 3개 이상 · V6′·V10·V11은 seed 1개</a:t>
            </a:r>
          </a:p>
          <a:p>
            <a:pPr algn="l" marL="219456" indent="-219456">
              <a:lnSpc>
                <a:spcPct val="118000"/>
              </a:lnSpc>
              <a:spcAft>
                <a:spcPts val="800"/>
              </a:spcAft>
              <a:buClr>
                <a:srgbClr val="9A8877"/>
              </a:buClr>
              <a:buFont typeface="Arial"/>
              <a:buChar char="•"/>
            </a:pPr>
            <a:r>
              <a:rPr sz="1700" b="0">
                <a:solidFill>
                  <a:srgbClr val="241E19"/>
                </a:solidFill>
                <a:latin typeface="Pretendard"/>
                <a:ea typeface="Pretendard"/>
                <a:cs typeface="Pretendard"/>
              </a:rPr>
              <a:t>실험 운영: 백그라운드 실행 알림 누락으로 GPU가 놀았던 일 → 실행 도구·절대 경로로 통일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120640"/>
            <a:ext cx="10820095" cy="1051560"/>
          </a:xfrm>
          <a:prstGeom prst="rect">
            <a:avLst/>
          </a:prstGeom>
          <a:solidFill>
            <a:srgbClr val="F7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5120640"/>
            <a:ext cx="31750" cy="105156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5248656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>
                <a:solidFill>
                  <a:srgbClr val="7A2E2E"/>
                </a:solidFill>
                <a:latin typeface="Pretendard"/>
                <a:ea typeface="Pretendard"/>
                <a:cs typeface="Pretendard"/>
              </a:rPr>
              <a:t>한 줄 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5522976"/>
            <a:ext cx="1045433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900" b="1">
                <a:solidFill>
                  <a:srgbClr val="7A2E2E"/>
                </a:solidFill>
                <a:latin typeface="Noto Serif KR"/>
                <a:ea typeface="Noto Serif KR"/>
                <a:cs typeface="Noto Serif KR"/>
              </a:rPr>
              <a:t>처음 보는 지형에서 걷게 만든 건 "조심"이 아니라 감각과 경험이었다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